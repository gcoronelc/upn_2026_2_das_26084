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9" r:id="rId4"/>
    <p:sldMasterId id="2147483661" r:id="rId5"/>
    <p:sldMasterId id="2147483663" r:id="rId6"/>
  </p:sldMasterIdLst>
  <p:sldIdLst>
    <p:sldId id="256" r:id="rId7"/>
    <p:sldId id="321" r:id="rId8"/>
    <p:sldId id="362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61" r:id="rId23"/>
    <p:sldId id="343" r:id="rId24"/>
    <p:sldId id="269" r:id="rId25"/>
    <p:sldId id="270" r:id="rId2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6376" y="293874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1725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79546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180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8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4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85D25E8E-B890-4A13-99F2-7DC31D25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2D3C6-A3D3-4D45-A5FD-155927F56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87613" y="233363"/>
            <a:ext cx="5561234" cy="85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accent4"/>
                </a:solidFill>
                <a:latin typeface="Sharp Grotesk Bold 15" panose="00000806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TÍTULO XXXXXXXX</a:t>
            </a:r>
          </a:p>
        </p:txBody>
      </p:sp>
    </p:spTree>
    <p:extLst>
      <p:ext uri="{BB962C8B-B14F-4D97-AF65-F5344CB8AC3E}">
        <p14:creationId xmlns:p14="http://schemas.microsoft.com/office/powerpoint/2010/main" val="41101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54009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33973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44837F6-2A27-4DBE-9495-F9D0DF2BC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367208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7332F7A3-166E-4BB2-AEB2-E73F5DA78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43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AD77459-4269-4D5A-9874-C5DB7352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996600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B663196-7267-4AF6-811F-24902DFC93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3063999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367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5F7A102-59E9-4B20-B2B2-4884E0A76F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E325EE4D-F5B5-44BB-B250-8EAD3A940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BC0EC00A-0BE9-4684-99EE-10A1F0A48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B12E335-06DA-423E-B9C4-71EA12898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D0EF54E5-D79B-47B2-950F-5559D299EB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2958C382-A56B-4118-AFB5-3FCB4B94B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Descripción generada automáticamente">
            <a:extLst>
              <a:ext uri="{FF2B5EF4-FFF2-40B4-BE49-F238E27FC236}">
                <a16:creationId xmlns:a16="http://schemas.microsoft.com/office/drawing/2014/main" id="{2FE88096-1BC1-4875-A4EA-4642B7221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AF9449-40BD-4FD4-8A96-15E17BB9A253}"/>
              </a:ext>
            </a:extLst>
          </p:cNvPr>
          <p:cNvSpPr txBox="1"/>
          <p:nvPr/>
        </p:nvSpPr>
        <p:spPr>
          <a:xfrm>
            <a:off x="5690937" y="670156"/>
            <a:ext cx="3886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Sharp Grotesk Book 15" panose="00000506000000000000" pitchFamily="50" charset="0"/>
              </a:rPr>
              <a:t>UPN, PASIÓN POR</a:t>
            </a:r>
          </a:p>
          <a:p>
            <a:r>
              <a:rPr lang="es-ES" sz="2800" b="1" dirty="0">
                <a:latin typeface="Sharp Grotesk Book 15" panose="00000506000000000000" pitchFamily="50" charset="0"/>
              </a:rPr>
              <a:t>TRANSFORMAR VIDAS</a:t>
            </a:r>
            <a:endParaRPr lang="es-PE" sz="2800" b="1" dirty="0">
              <a:latin typeface="Sharp Grotesk Book 15" panose="00000506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6D3AF5-D29A-4704-B9ED-CB2BE7AB7E6E}"/>
              </a:ext>
            </a:extLst>
          </p:cNvPr>
          <p:cNvSpPr txBox="1"/>
          <p:nvPr/>
        </p:nvSpPr>
        <p:spPr>
          <a:xfrm>
            <a:off x="5843337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latin typeface="Sharp Grotesk Book 15" panose="00000506000000000000" pitchFamily="50" charset="0"/>
              </a:rPr>
              <a:t>rmenendez@upn.edu.pe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4551022" y="3156186"/>
            <a:ext cx="6989445" cy="1415772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50"/>
              </a:spcBef>
            </a:pPr>
            <a:r>
              <a:rPr lang="es-ES" sz="2800" spc="-15" dirty="0"/>
              <a:t>UNIDAD </a:t>
            </a:r>
            <a:r>
              <a:rPr lang="es-ES" sz="2800" dirty="0"/>
              <a:t>2: DISEÑO</a:t>
            </a:r>
            <a:r>
              <a:rPr lang="es-ES" sz="2800" spc="-70" dirty="0"/>
              <a:t> </a:t>
            </a:r>
            <a:r>
              <a:rPr lang="es-ES" sz="2800" spc="-10" dirty="0"/>
              <a:t>ARQUITECTONICO.</a:t>
            </a:r>
          </a:p>
          <a:p>
            <a:pPr marL="1919605" marR="5080" indent="-1598295" algn="ctr">
              <a:lnSpc>
                <a:spcPts val="3460"/>
              </a:lnSpc>
              <a:spcBef>
                <a:spcPts val="10"/>
              </a:spcBef>
            </a:pPr>
            <a:r>
              <a:rPr lang="es-ES" sz="2800" dirty="0">
                <a:solidFill>
                  <a:srgbClr val="FF0000"/>
                </a:solidFill>
              </a:rPr>
              <a:t>SESIÓN 7: Patrones </a:t>
            </a:r>
            <a:r>
              <a:rPr lang="es-ES" sz="2800" dirty="0" err="1">
                <a:solidFill>
                  <a:srgbClr val="FF0000"/>
                </a:solidFill>
              </a:rPr>
              <a:t>Grasp</a:t>
            </a:r>
            <a:r>
              <a:rPr lang="es-ES" sz="2800" dirty="0">
                <a:solidFill>
                  <a:srgbClr val="FF0000"/>
                </a:solidFill>
              </a:rPr>
              <a:t> y el modelo de datos</a:t>
            </a:r>
            <a:endParaRPr sz="28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52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CuadroTexto 3"/>
          <p:cNvSpPr txBox="1"/>
          <p:nvPr/>
        </p:nvSpPr>
        <p:spPr>
          <a:xfrm>
            <a:off x="3289110" y="136478"/>
            <a:ext cx="49541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MOTIVACIÓN</a:t>
            </a:r>
          </a:p>
          <a:p>
            <a:endParaRPr lang="de-DE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51" y="2101756"/>
            <a:ext cx="8781023" cy="25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6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6140" y="1837436"/>
            <a:ext cx="6695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272727"/>
                </a:solidFill>
                <a:latin typeface="Arial"/>
                <a:cs typeface="Arial"/>
              </a:rPr>
              <a:t>UNIDAD 2: DISEÑO</a:t>
            </a:r>
            <a:r>
              <a:rPr sz="2800" b="1" spc="-105" dirty="0">
                <a:solidFill>
                  <a:srgbClr val="272727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72727"/>
                </a:solidFill>
                <a:latin typeface="Arial"/>
                <a:cs typeface="Arial"/>
              </a:rPr>
              <a:t>ARQUITECTONICO.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5817" y="2530855"/>
            <a:ext cx="67157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SESIÓN </a:t>
            </a:r>
            <a:r>
              <a:rPr sz="2400" dirty="0">
                <a:latin typeface="Arial"/>
                <a:cs typeface="Arial"/>
              </a:rPr>
              <a:t>7: </a:t>
            </a:r>
            <a:r>
              <a:rPr sz="2400" spc="-5" dirty="0">
                <a:latin typeface="Arial"/>
                <a:cs typeface="Arial"/>
              </a:rPr>
              <a:t>Patrones </a:t>
            </a:r>
            <a:r>
              <a:rPr sz="2400" dirty="0">
                <a:latin typeface="Arial"/>
                <a:cs typeface="Arial"/>
              </a:rPr>
              <a:t>Grasp y </a:t>
            </a:r>
            <a:r>
              <a:rPr sz="2400" spc="-5" dirty="0">
                <a:latin typeface="Arial"/>
                <a:cs typeface="Arial"/>
              </a:rPr>
              <a:t>el modelo de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datos</a:t>
            </a:r>
            <a:r>
              <a:rPr sz="24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2081784" y="3713988"/>
            <a:ext cx="8136635" cy="1923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09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4387610" y="-136391"/>
            <a:ext cx="4815205" cy="119316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26920">
              <a:lnSpc>
                <a:spcPct val="100000"/>
              </a:lnSpc>
              <a:spcBef>
                <a:spcPts val="645"/>
              </a:spcBef>
            </a:pPr>
            <a:r>
              <a:rPr sz="3200" dirty="0">
                <a:solidFill>
                  <a:srgbClr val="EEA82E"/>
                </a:solidFill>
              </a:rPr>
              <a:t>REFLEXIONA</a:t>
            </a:r>
            <a:r>
              <a:rPr sz="3600" dirty="0">
                <a:solidFill>
                  <a:srgbClr val="EEA82E"/>
                </a:solidFill>
              </a:rPr>
              <a:t>:</a:t>
            </a:r>
            <a:endParaRPr sz="3600" dirty="0"/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3200" spc="-15" dirty="0">
                <a:solidFill>
                  <a:srgbClr val="000000"/>
                </a:solidFill>
                <a:latin typeface="Carlito"/>
                <a:cs typeface="Carlito"/>
              </a:rPr>
              <a:t>Patrones </a:t>
            </a:r>
            <a:r>
              <a:rPr sz="3200" dirty="0">
                <a:solidFill>
                  <a:srgbClr val="000000"/>
                </a:solidFill>
                <a:latin typeface="Carlito"/>
                <a:cs typeface="Carlito"/>
              </a:rPr>
              <a:t>de</a:t>
            </a:r>
            <a:r>
              <a:rPr sz="3200" spc="-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3200" dirty="0">
                <a:solidFill>
                  <a:srgbClr val="000000"/>
                </a:solidFill>
                <a:latin typeface="Carlito"/>
                <a:cs typeface="Carlito"/>
              </a:rPr>
              <a:t>diseño</a:t>
            </a:r>
            <a:r>
              <a:rPr sz="3200" dirty="0">
                <a:solidFill>
                  <a:srgbClr val="000000"/>
                </a:solidFill>
                <a:latin typeface="Carlito"/>
                <a:cs typeface="Carlito"/>
              </a:rPr>
              <a:t>…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96083" y="1575817"/>
            <a:ext cx="7417308" cy="431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396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577722"/>
            <a:ext cx="7056763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chemeClr val="tx1"/>
                </a:solidFill>
                <a:latin typeface="Arial"/>
                <a:cs typeface="Arial"/>
              </a:rPr>
              <a:t>LOGRO DE LA</a:t>
            </a:r>
            <a:r>
              <a:rPr sz="3200" spc="-2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chemeClr val="tx1"/>
                </a:solidFill>
                <a:latin typeface="Arial"/>
                <a:cs typeface="Arial"/>
              </a:rPr>
              <a:t>SESIÓN</a:t>
            </a:r>
            <a:endParaRPr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16604" y="1328912"/>
            <a:ext cx="8273040" cy="2875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20797" y="2258950"/>
            <a:ext cx="732155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spcBef>
                <a:spcPts val="105"/>
              </a:spcBef>
            </a:pPr>
            <a:r>
              <a:rPr sz="2000" dirty="0">
                <a:latin typeface="Carlito"/>
                <a:cs typeface="Carlito"/>
              </a:rPr>
              <a:t>Al </a:t>
            </a:r>
            <a:r>
              <a:rPr sz="2000" spc="-5" dirty="0">
                <a:latin typeface="Carlito"/>
                <a:cs typeface="Carlito"/>
              </a:rPr>
              <a:t>término </a:t>
            </a:r>
            <a:r>
              <a:rPr sz="2000" dirty="0">
                <a:latin typeface="Carlito"/>
                <a:cs typeface="Carlito"/>
              </a:rPr>
              <a:t>de </a:t>
            </a:r>
            <a:r>
              <a:rPr sz="2000" spc="-10" dirty="0">
                <a:latin typeface="Carlito"/>
                <a:cs typeface="Carlito"/>
              </a:rPr>
              <a:t>la </a:t>
            </a:r>
            <a:r>
              <a:rPr sz="2000" spc="-5" dirty="0">
                <a:latin typeface="Carlito"/>
                <a:cs typeface="Carlito"/>
              </a:rPr>
              <a:t>sesión, el </a:t>
            </a:r>
            <a:r>
              <a:rPr sz="2000" spc="-10" dirty="0">
                <a:latin typeface="Carlito"/>
                <a:cs typeface="Carlito"/>
              </a:rPr>
              <a:t>estudiante comprende </a:t>
            </a:r>
            <a:r>
              <a:rPr sz="2000" dirty="0">
                <a:latin typeface="Carlito"/>
                <a:cs typeface="Carlito"/>
              </a:rPr>
              <a:t>los </a:t>
            </a:r>
            <a:r>
              <a:rPr sz="2000" spc="-10" dirty="0">
                <a:latin typeface="Carlito"/>
                <a:cs typeface="Carlito"/>
              </a:rPr>
              <a:t>patrones Grasp </a:t>
            </a:r>
            <a:r>
              <a:rPr sz="2000" dirty="0">
                <a:latin typeface="Carlito"/>
                <a:cs typeface="Carlito"/>
              </a:rPr>
              <a:t>y  </a:t>
            </a:r>
            <a:r>
              <a:rPr sz="2000" spc="-5" dirty="0">
                <a:latin typeface="Carlito"/>
                <a:cs typeface="Carlito"/>
              </a:rPr>
              <a:t>su </a:t>
            </a:r>
            <a:r>
              <a:rPr sz="2000" spc="-10" dirty="0">
                <a:latin typeface="Carlito"/>
                <a:cs typeface="Carlito"/>
              </a:rPr>
              <a:t>estructura dentro </a:t>
            </a:r>
            <a:r>
              <a:rPr sz="2000" dirty="0">
                <a:latin typeface="Carlito"/>
                <a:cs typeface="Carlito"/>
              </a:rPr>
              <a:t>de </a:t>
            </a:r>
            <a:r>
              <a:rPr sz="2000" spc="-5" dirty="0">
                <a:latin typeface="Carlito"/>
                <a:cs typeface="Carlito"/>
              </a:rPr>
              <a:t>la </a:t>
            </a:r>
            <a:r>
              <a:rPr sz="2000" spc="-10" dirty="0">
                <a:latin typeface="Carlito"/>
                <a:cs typeface="Carlito"/>
              </a:rPr>
              <a:t>arquitectura </a:t>
            </a:r>
            <a:r>
              <a:rPr sz="2000" dirty="0">
                <a:latin typeface="Carlito"/>
                <a:cs typeface="Carlito"/>
              </a:rPr>
              <a:t>de </a:t>
            </a:r>
            <a:r>
              <a:rPr sz="2000" spc="-10" dirty="0">
                <a:latin typeface="Carlito"/>
                <a:cs typeface="Carlito"/>
              </a:rPr>
              <a:t>software, </a:t>
            </a:r>
            <a:r>
              <a:rPr sz="2000" spc="-5" dirty="0">
                <a:latin typeface="Carlito"/>
                <a:cs typeface="Carlito"/>
              </a:rPr>
              <a:t>describiendo el  </a:t>
            </a:r>
            <a:r>
              <a:rPr sz="2000" dirty="0">
                <a:latin typeface="Carlito"/>
                <a:cs typeface="Carlito"/>
              </a:rPr>
              <a:t>modelo de </a:t>
            </a:r>
            <a:r>
              <a:rPr sz="2000" spc="-5" dirty="0">
                <a:latin typeface="Carlito"/>
                <a:cs typeface="Carlito"/>
              </a:rPr>
              <a:t>analisis, usando la </a:t>
            </a:r>
            <a:r>
              <a:rPr sz="2000" spc="-10" dirty="0">
                <a:latin typeface="Carlito"/>
                <a:cs typeface="Carlito"/>
              </a:rPr>
              <a:t>herramienta rational software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architect.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11445" y="4354033"/>
            <a:ext cx="8271520" cy="2006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72664" y="4623055"/>
            <a:ext cx="448945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rlito"/>
                <a:cs typeface="Carlito"/>
              </a:rPr>
              <a:t>Temario:</a:t>
            </a:r>
            <a:endParaRPr>
              <a:latin typeface="Carlito"/>
              <a:cs typeface="Carlito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spc="-10" dirty="0">
                <a:latin typeface="Carlito"/>
                <a:cs typeface="Carlito"/>
              </a:rPr>
              <a:t>Explicación </a:t>
            </a:r>
            <a:r>
              <a:rPr spc="-5" dirty="0">
                <a:latin typeface="Carlito"/>
                <a:cs typeface="Carlito"/>
              </a:rPr>
              <a:t>de los </a:t>
            </a:r>
            <a:r>
              <a:rPr spc="-10" dirty="0">
                <a:latin typeface="Carlito"/>
                <a:cs typeface="Carlito"/>
              </a:rPr>
              <a:t>patrones </a:t>
            </a:r>
            <a:r>
              <a:rPr spc="-5" dirty="0">
                <a:latin typeface="Carlito"/>
                <a:cs typeface="Carlito"/>
              </a:rPr>
              <a:t>de</a:t>
            </a:r>
            <a:r>
              <a:rPr spc="55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diseño.</a:t>
            </a:r>
            <a:endParaRPr>
              <a:latin typeface="Carlito"/>
              <a:cs typeface="Carlito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spc="-15" dirty="0">
                <a:latin typeface="Carlito"/>
                <a:cs typeface="Carlito"/>
              </a:rPr>
              <a:t>Patrones </a:t>
            </a:r>
            <a:r>
              <a:rPr spc="-10" dirty="0">
                <a:latin typeface="Carlito"/>
                <a:cs typeface="Carlito"/>
              </a:rPr>
              <a:t>Grasp.</a:t>
            </a:r>
            <a:endParaRPr>
              <a:latin typeface="Carlito"/>
              <a:cs typeface="Carlito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dirty="0">
                <a:latin typeface="Carlito"/>
                <a:cs typeface="Carlito"/>
              </a:rPr>
              <a:t>Modelo </a:t>
            </a:r>
            <a:r>
              <a:rPr spc="-5" dirty="0">
                <a:latin typeface="Carlito"/>
                <a:cs typeface="Carlito"/>
              </a:rPr>
              <a:t>análisis </a:t>
            </a:r>
            <a:r>
              <a:rPr dirty="0">
                <a:latin typeface="Carlito"/>
                <a:cs typeface="Carlito"/>
              </a:rPr>
              <a:t>.</a:t>
            </a:r>
            <a:endParaRPr>
              <a:latin typeface="Carlito"/>
              <a:cs typeface="Carlito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spc="-5" dirty="0">
                <a:latin typeface="Carlito"/>
                <a:cs typeface="Carlito"/>
              </a:rPr>
              <a:t>Solución de </a:t>
            </a:r>
            <a:r>
              <a:rPr spc="-10" dirty="0">
                <a:latin typeface="Carlito"/>
                <a:cs typeface="Carlito"/>
              </a:rPr>
              <a:t>ejercicio </a:t>
            </a:r>
            <a:r>
              <a:rPr spc="-5" dirty="0">
                <a:latin typeface="Carlito"/>
                <a:cs typeface="Carlito"/>
              </a:rPr>
              <a:t>empresarial</a:t>
            </a:r>
            <a:r>
              <a:rPr spc="4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propuesto.</a:t>
            </a:r>
            <a:endParaRPr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732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0764" y="620344"/>
            <a:ext cx="7708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chemeClr val="tx1"/>
                </a:solidFill>
              </a:rPr>
              <a:t>¿EN </a:t>
            </a:r>
            <a:r>
              <a:rPr sz="2800" spc="-5" dirty="0">
                <a:solidFill>
                  <a:schemeClr val="tx1"/>
                </a:solidFill>
              </a:rPr>
              <a:t>QUE DISCIPLINA NOS</a:t>
            </a:r>
            <a:r>
              <a:rPr sz="2800" spc="-110" dirty="0">
                <a:solidFill>
                  <a:schemeClr val="tx1"/>
                </a:solidFill>
              </a:rPr>
              <a:t> </a:t>
            </a:r>
            <a:r>
              <a:rPr sz="2800" spc="-5" dirty="0">
                <a:solidFill>
                  <a:schemeClr val="tx1"/>
                </a:solidFill>
              </a:rPr>
              <a:t>ENCONTRAMOS?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1200" y="1769364"/>
            <a:ext cx="8229600" cy="4512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760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611250"/>
            <a:ext cx="6797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chemeClr val="tx1"/>
                </a:solidFill>
                <a:latin typeface="Arial"/>
                <a:cs typeface="Arial"/>
              </a:rPr>
              <a:t>PATRONES 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DE DISEÑO DE</a:t>
            </a:r>
            <a:r>
              <a:rPr sz="28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chemeClr val="tx1"/>
                </a:solidFill>
                <a:latin typeface="Arial"/>
                <a:cs typeface="Arial"/>
              </a:rPr>
              <a:t>SOFTWARE.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627074"/>
            <a:ext cx="3428365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spcBef>
                <a:spcPts val="100"/>
              </a:spcBef>
              <a:buClr>
                <a:srgbClr val="EEA82E"/>
              </a:buClr>
              <a:buChar char="•"/>
              <a:tabLst>
                <a:tab pos="355600" algn="l"/>
                <a:tab pos="356235" algn="l"/>
              </a:tabLst>
            </a:pPr>
            <a:r>
              <a:rPr spc="-5" dirty="0">
                <a:latin typeface="Arial"/>
                <a:cs typeface="Arial"/>
              </a:rPr>
              <a:t>En diseño orientado </a:t>
            </a:r>
            <a:r>
              <a:rPr dirty="0">
                <a:latin typeface="Arial"/>
                <a:cs typeface="Arial"/>
              </a:rPr>
              <a:t>a  </a:t>
            </a:r>
            <a:r>
              <a:rPr spc="-5" dirty="0">
                <a:latin typeface="Arial"/>
                <a:cs typeface="Arial"/>
              </a:rPr>
              <a:t>objetos, </a:t>
            </a:r>
            <a:r>
              <a:rPr b="1" spc="-15" dirty="0">
                <a:latin typeface="Arial"/>
                <a:cs typeface="Arial"/>
              </a:rPr>
              <a:t>GRASP </a:t>
            </a:r>
            <a:r>
              <a:rPr spc="-5" dirty="0">
                <a:latin typeface="Arial"/>
                <a:cs typeface="Arial"/>
              </a:rPr>
              <a:t>son </a:t>
            </a:r>
            <a:r>
              <a:rPr i="1" spc="-5" dirty="0">
                <a:latin typeface="Arial"/>
                <a:cs typeface="Arial"/>
              </a:rPr>
              <a:t>patrones  generales de </a:t>
            </a:r>
            <a:r>
              <a:rPr i="1" dirty="0">
                <a:latin typeface="Arial"/>
                <a:cs typeface="Arial"/>
              </a:rPr>
              <a:t>software </a:t>
            </a:r>
            <a:r>
              <a:rPr i="1" spc="-5" dirty="0">
                <a:latin typeface="Arial"/>
                <a:cs typeface="Arial"/>
              </a:rPr>
              <a:t>para  asignación de  responsabilidades</a:t>
            </a:r>
            <a:r>
              <a:rPr spc="-5" dirty="0">
                <a:latin typeface="Arial"/>
                <a:cs typeface="Arial"/>
              </a:rPr>
              <a:t>,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es</a:t>
            </a:r>
            <a:endParaRPr>
              <a:latin typeface="Arial"/>
              <a:cs typeface="Arial"/>
            </a:endParaRPr>
          </a:p>
          <a:p>
            <a:pPr marL="355600" marR="621030">
              <a:spcBef>
                <a:spcPts val="5"/>
              </a:spcBef>
            </a:pPr>
            <a:r>
              <a:rPr spc="-5" dirty="0">
                <a:latin typeface="Arial"/>
                <a:cs typeface="Arial"/>
              </a:rPr>
              <a:t>el acrónimo de "GRASP  (object-oriented design  General Responsibility  Assignment </a:t>
            </a:r>
            <a:r>
              <a:rPr spc="-10" dirty="0">
                <a:latin typeface="Arial"/>
                <a:cs typeface="Arial"/>
              </a:rPr>
              <a:t>Software  </a:t>
            </a:r>
            <a:r>
              <a:rPr spc="-5" dirty="0">
                <a:latin typeface="Arial"/>
                <a:cs typeface="Arial"/>
              </a:rPr>
              <a:t>Patterns)". Aunque se  considera </a:t>
            </a:r>
            <a:r>
              <a:rPr spc="-10" dirty="0">
                <a:latin typeface="Arial"/>
                <a:cs typeface="Arial"/>
              </a:rPr>
              <a:t>que</a:t>
            </a:r>
            <a:r>
              <a:rPr dirty="0">
                <a:latin typeface="Arial"/>
                <a:cs typeface="Arial"/>
              </a:rPr>
              <a:t> más</a:t>
            </a:r>
            <a:endParaRPr>
              <a:latin typeface="Arial"/>
              <a:cs typeface="Arial"/>
            </a:endParaRPr>
          </a:p>
          <a:p>
            <a:pPr marL="355600" marR="219710">
              <a:spcBef>
                <a:spcPts val="5"/>
              </a:spcBef>
            </a:pPr>
            <a:r>
              <a:rPr spc="-5" dirty="0">
                <a:latin typeface="Arial"/>
                <a:cs typeface="Arial"/>
              </a:rPr>
              <a:t>que patrones propiamente  dichos, son una serie </a:t>
            </a:r>
            <a:r>
              <a:rPr spc="-10" dirty="0">
                <a:latin typeface="Arial"/>
                <a:cs typeface="Arial"/>
              </a:rPr>
              <a:t>de  </a:t>
            </a:r>
            <a:r>
              <a:rPr spc="-5" dirty="0">
                <a:latin typeface="Arial"/>
                <a:cs typeface="Arial"/>
              </a:rPr>
              <a:t>"buenas prácticas" de  aplicación recomendable en  el diseño de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software.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1284" y="2276855"/>
            <a:ext cx="4756404" cy="2828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342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5109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</a:rPr>
              <a:t>ACTIVIDAD A</a:t>
            </a:r>
            <a:r>
              <a:rPr sz="2800" spc="-21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DESARROLLAR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69104" y="1600200"/>
            <a:ext cx="6889348" cy="488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01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3485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MODELO 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DE</a:t>
            </a:r>
            <a:r>
              <a:rPr sz="28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chemeClr val="tx1"/>
                </a:solidFill>
                <a:latin typeface="Arial"/>
                <a:cs typeface="Arial"/>
              </a:rPr>
              <a:t>DATOS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564805"/>
            <a:ext cx="6715569" cy="300511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3535">
              <a:lnSpc>
                <a:spcPct val="200000"/>
              </a:lnSpc>
              <a:spcBef>
                <a:spcPts val="585"/>
              </a:spcBef>
              <a:buClr>
                <a:srgbClr val="EEA82E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latin typeface="Arial"/>
                <a:cs typeface="Arial"/>
              </a:rPr>
              <a:t>Modelo</a:t>
            </a:r>
            <a:r>
              <a:rPr sz="3200" b="1" dirty="0">
                <a:latin typeface="Arial"/>
                <a:cs typeface="Arial"/>
              </a:rPr>
              <a:t> de</a:t>
            </a:r>
            <a:r>
              <a:rPr sz="3200" b="1" spc="-8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conceptual.</a:t>
            </a:r>
            <a:endParaRPr sz="3200" dirty="0">
              <a:latin typeface="Arial"/>
              <a:cs typeface="Arial"/>
            </a:endParaRPr>
          </a:p>
          <a:p>
            <a:pPr marL="355600" indent="-343535">
              <a:lnSpc>
                <a:spcPct val="200000"/>
              </a:lnSpc>
              <a:spcBef>
                <a:spcPts val="480"/>
              </a:spcBef>
              <a:buClr>
                <a:srgbClr val="EEA82E"/>
              </a:buClr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Modelo de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Lógico</a:t>
            </a:r>
            <a:r>
              <a:rPr sz="3200" dirty="0">
                <a:latin typeface="Arial"/>
                <a:cs typeface="Arial"/>
              </a:rPr>
              <a:t>.</a:t>
            </a:r>
          </a:p>
          <a:p>
            <a:pPr marL="355600" indent="-343535">
              <a:lnSpc>
                <a:spcPct val="200000"/>
              </a:lnSpc>
              <a:spcBef>
                <a:spcPts val="480"/>
              </a:spcBef>
              <a:buClr>
                <a:srgbClr val="EEA82E"/>
              </a:buClr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Arial"/>
                <a:cs typeface="Arial"/>
              </a:rPr>
              <a:t>Modelo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Físico</a:t>
            </a:r>
            <a:r>
              <a:rPr sz="320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360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4147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MODELO CONCEPTUAL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25040" y="1546861"/>
            <a:ext cx="3957320" cy="1043305"/>
            <a:chOff x="701040" y="1546860"/>
            <a:chExt cx="3957320" cy="1043305"/>
          </a:xfrm>
        </p:grpSpPr>
        <p:sp>
          <p:nvSpPr>
            <p:cNvPr id="4" name="object 4"/>
            <p:cNvSpPr/>
            <p:nvPr/>
          </p:nvSpPr>
          <p:spPr>
            <a:xfrm>
              <a:off x="1463040" y="1546860"/>
              <a:ext cx="2079498" cy="67741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1040" y="1912620"/>
              <a:ext cx="3957066" cy="67741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59940" y="1625550"/>
            <a:ext cx="409702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spcBef>
                <a:spcPts val="100"/>
              </a:spcBef>
              <a:buClr>
                <a:srgbClr val="EEA82E"/>
              </a:buClr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Es el </a:t>
            </a:r>
            <a:r>
              <a:rPr sz="2400" b="1" spc="-5" dirty="0">
                <a:latin typeface="Arial"/>
                <a:cs typeface="Arial"/>
              </a:rPr>
              <a:t>esquema </a:t>
            </a:r>
            <a:r>
              <a:rPr sz="2400" b="1" dirty="0">
                <a:latin typeface="Arial"/>
                <a:cs typeface="Arial"/>
              </a:rPr>
              <a:t>o  </a:t>
            </a:r>
            <a:r>
              <a:rPr sz="2400" b="1" spc="-5" dirty="0">
                <a:latin typeface="Arial"/>
                <a:cs typeface="Arial"/>
              </a:rPr>
              <a:t>descripción de </a:t>
            </a:r>
            <a:r>
              <a:rPr sz="2400" b="1" dirty="0">
                <a:latin typeface="Arial"/>
                <a:cs typeface="Arial"/>
              </a:rPr>
              <a:t>alto nivel  </a:t>
            </a:r>
            <a:r>
              <a:rPr sz="2400" spc="-5" dirty="0">
                <a:latin typeface="Arial"/>
                <a:cs typeface="Arial"/>
              </a:rPr>
              <a:t>de la estructura de los  datos de un </a:t>
            </a:r>
            <a:r>
              <a:rPr sz="2400" dirty="0">
                <a:latin typeface="Arial"/>
                <a:cs typeface="Arial"/>
              </a:rPr>
              <a:t>sistema  </a:t>
            </a:r>
            <a:r>
              <a:rPr sz="2400" spc="-5" dirty="0">
                <a:latin typeface="Arial"/>
                <a:cs typeface="Arial"/>
              </a:rPr>
              <a:t>independientemente de la  implementación posterior  de la base de </a:t>
            </a:r>
            <a:r>
              <a:rPr sz="2400" dirty="0">
                <a:latin typeface="Arial"/>
                <a:cs typeface="Arial"/>
              </a:rPr>
              <a:t>datos.  </a:t>
            </a:r>
            <a:r>
              <a:rPr sz="2400" spc="-40" dirty="0">
                <a:latin typeface="Arial"/>
                <a:cs typeface="Arial"/>
              </a:rPr>
              <a:t>También </a:t>
            </a:r>
            <a:r>
              <a:rPr sz="2400" spc="-5" dirty="0">
                <a:latin typeface="Arial"/>
                <a:cs typeface="Arial"/>
              </a:rPr>
              <a:t>conocido </a:t>
            </a:r>
            <a:r>
              <a:rPr sz="2400" dirty="0">
                <a:latin typeface="Arial"/>
                <a:cs typeface="Arial"/>
              </a:rPr>
              <a:t>como  </a:t>
            </a:r>
            <a:r>
              <a:rPr sz="2400" spc="-5" dirty="0">
                <a:latin typeface="Arial"/>
                <a:cs typeface="Arial"/>
              </a:rPr>
              <a:t>modelo del dominio porque  representa conceptos  significativos de un dominio 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problema.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50735" y="2276855"/>
            <a:ext cx="3560064" cy="29504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7776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611250"/>
            <a:ext cx="75190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chemeClr val="tx1"/>
                </a:solidFill>
                <a:latin typeface="Arial"/>
                <a:cs typeface="Arial"/>
              </a:rPr>
              <a:t>IMPORTANCIA 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DEL </a:t>
            </a: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MODELO</a:t>
            </a:r>
            <a:r>
              <a:rPr sz="28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CONCEPTUAL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11873" y="1564806"/>
            <a:ext cx="3425190" cy="167258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spcBef>
                <a:spcPts val="585"/>
              </a:spcBef>
              <a:buClr>
                <a:srgbClr val="EEA82E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Equipo de base de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datos</a:t>
            </a:r>
            <a:endParaRPr sz="2000">
              <a:latin typeface="Arial"/>
              <a:cs typeface="Arial"/>
            </a:endParaRPr>
          </a:p>
          <a:p>
            <a:pPr marL="12700" marR="5080"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Permitirá crear el modelo  físico donde se identificará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las  tablas relacionales de la base  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78736" y="1514855"/>
            <a:ext cx="4139184" cy="2395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9867" y="4094644"/>
            <a:ext cx="8740305" cy="2763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626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1695" y="193174"/>
            <a:ext cx="997651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</a:rPr>
              <a:t>CONSTRUCCIÓN DEL</a:t>
            </a:r>
            <a:r>
              <a:rPr sz="2800" spc="-5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MODELO  CONCEPTUAL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58483" y="1318261"/>
            <a:ext cx="2362641" cy="4460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0328" y="3429000"/>
            <a:ext cx="5561076" cy="2932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58284" y="1318260"/>
            <a:ext cx="36575" cy="526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48099" y="1149097"/>
            <a:ext cx="5523304" cy="2115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755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5549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LAS </a:t>
            </a:r>
            <a:r>
              <a:rPr sz="2800" spc="-10" dirty="0">
                <a:solidFill>
                  <a:schemeClr val="tx1"/>
                </a:solidFill>
                <a:latin typeface="Arial"/>
                <a:cs typeface="Arial"/>
              </a:rPr>
              <a:t>CLASES 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Y SUS</a:t>
            </a:r>
            <a:r>
              <a:rPr sz="2800" spc="-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chemeClr val="tx1"/>
                </a:solidFill>
                <a:latin typeface="Arial"/>
                <a:cs typeface="Arial"/>
              </a:rPr>
              <a:t>ATRIBUTOS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84347" y="1562100"/>
            <a:ext cx="5038090" cy="933450"/>
            <a:chOff x="1260347" y="1562100"/>
            <a:chExt cx="5038090" cy="933450"/>
          </a:xfrm>
        </p:grpSpPr>
        <p:sp>
          <p:nvSpPr>
            <p:cNvPr id="4" name="object 4"/>
            <p:cNvSpPr/>
            <p:nvPr/>
          </p:nvSpPr>
          <p:spPr>
            <a:xfrm>
              <a:off x="2953512" y="1562100"/>
              <a:ext cx="3344417" cy="5676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0347" y="1927859"/>
              <a:ext cx="1494281" cy="5676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15539" y="1927859"/>
              <a:ext cx="945641" cy="5676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2091" y="1927859"/>
              <a:ext cx="424421" cy="5676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7436" y="1927859"/>
              <a:ext cx="1439417" cy="5676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784347" y="2598407"/>
            <a:ext cx="5247894" cy="5677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59941" y="1564805"/>
            <a:ext cx="7526655" cy="174214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spcBef>
                <a:spcPts val="585"/>
              </a:spcBef>
              <a:tabLst>
                <a:tab pos="404495" algn="l"/>
              </a:tabLst>
            </a:pPr>
            <a:r>
              <a:rPr sz="2000" spc="2895" dirty="0">
                <a:latin typeface="Wingdings"/>
                <a:cs typeface="Wingdings"/>
              </a:rPr>
              <a:t></a:t>
            </a:r>
            <a:r>
              <a:rPr sz="2000" spc="289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"/>
                <a:cs typeface="Arial"/>
              </a:rPr>
              <a:t>Las clases poseen </a:t>
            </a:r>
            <a:r>
              <a:rPr sz="2000" b="1" dirty="0">
                <a:latin typeface="Arial"/>
                <a:cs typeface="Arial"/>
              </a:rPr>
              <a:t>información </a:t>
            </a:r>
            <a:r>
              <a:rPr sz="2000" b="1" spc="-5" dirty="0">
                <a:latin typeface="Arial"/>
                <a:cs typeface="Arial"/>
              </a:rPr>
              <a:t>descriptivas</a:t>
            </a:r>
            <a:r>
              <a:rPr sz="2000" spc="-5" dirty="0">
                <a:latin typeface="Arial"/>
                <a:cs typeface="Arial"/>
              </a:rPr>
              <a:t>; </a:t>
            </a:r>
            <a:r>
              <a:rPr sz="2000" dirty="0">
                <a:latin typeface="Arial"/>
                <a:cs typeface="Arial"/>
              </a:rPr>
              <a:t>los atributos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no.</a:t>
            </a:r>
            <a:endParaRPr sz="2000">
              <a:latin typeface="Arial"/>
              <a:cs typeface="Arial"/>
            </a:endParaRPr>
          </a:p>
          <a:p>
            <a:pPr marL="404495" marR="2487930" indent="-392430">
              <a:spcBef>
                <a:spcPts val="480"/>
              </a:spcBef>
              <a:tabLst>
                <a:tab pos="404495" algn="l"/>
              </a:tabLst>
            </a:pPr>
            <a:r>
              <a:rPr sz="2000" spc="2885" dirty="0">
                <a:latin typeface="Wingdings"/>
                <a:cs typeface="Wingdings"/>
              </a:rPr>
              <a:t></a:t>
            </a:r>
            <a:r>
              <a:rPr sz="2000" spc="288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"/>
                <a:cs typeface="Arial"/>
              </a:rPr>
              <a:t>Los </a:t>
            </a:r>
            <a:r>
              <a:rPr sz="2000" b="1" dirty="0">
                <a:latin typeface="Arial"/>
                <a:cs typeface="Arial"/>
              </a:rPr>
              <a:t>atributos </a:t>
            </a:r>
            <a:r>
              <a:rPr sz="2000" b="1" spc="-5" dirty="0">
                <a:latin typeface="Arial"/>
                <a:cs typeface="Arial"/>
              </a:rPr>
              <a:t>multi-valuados </a:t>
            </a:r>
            <a:r>
              <a:rPr sz="2000" dirty="0">
                <a:latin typeface="Arial"/>
                <a:cs typeface="Arial"/>
              </a:rPr>
              <a:t>deben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5" dirty="0">
                <a:latin typeface="Arial"/>
                <a:cs typeface="Arial"/>
              </a:rPr>
              <a:t>ser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clasificados como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clases.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  <a:tabLst>
                <a:tab pos="404495" algn="l"/>
              </a:tabLst>
            </a:pPr>
            <a:r>
              <a:rPr sz="2000" spc="2885" dirty="0">
                <a:latin typeface="Wingdings"/>
                <a:cs typeface="Wingdings"/>
              </a:rPr>
              <a:t></a:t>
            </a:r>
            <a:r>
              <a:rPr sz="2000" spc="2885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Arial"/>
                <a:cs typeface="Arial"/>
              </a:rPr>
              <a:t>Los </a:t>
            </a:r>
            <a:r>
              <a:rPr sz="2000" b="1" dirty="0">
                <a:latin typeface="Arial"/>
                <a:cs typeface="Arial"/>
              </a:rPr>
              <a:t>atributos deben ser inherentes a la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clase</a:t>
            </a:r>
            <a:r>
              <a:rPr sz="200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87753" y="3663696"/>
            <a:ext cx="6577583" cy="24627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63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458850"/>
            <a:ext cx="4497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chemeClr val="tx1"/>
                </a:solidFill>
              </a:rPr>
              <a:t>CATEGORÍAS </a:t>
            </a:r>
            <a:r>
              <a:rPr sz="2800" spc="-5" dirty="0">
                <a:solidFill>
                  <a:schemeClr val="tx1"/>
                </a:solidFill>
              </a:rPr>
              <a:t>DE</a:t>
            </a:r>
            <a:r>
              <a:rPr sz="2800" spc="3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CLASES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7899" y="1728302"/>
            <a:ext cx="8122722" cy="4168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958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4497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chemeClr val="tx1"/>
                </a:solidFill>
              </a:rPr>
              <a:t>CATEGORÍAS </a:t>
            </a:r>
            <a:r>
              <a:rPr sz="2800" spc="-5" dirty="0">
                <a:solidFill>
                  <a:schemeClr val="tx1"/>
                </a:solidFill>
              </a:rPr>
              <a:t>DE</a:t>
            </a:r>
            <a:r>
              <a:rPr sz="2800" spc="30" dirty="0">
                <a:solidFill>
                  <a:schemeClr val="tx1"/>
                </a:solidFill>
              </a:rPr>
              <a:t> </a:t>
            </a:r>
            <a:r>
              <a:rPr sz="2800" spc="-10" dirty="0">
                <a:solidFill>
                  <a:schemeClr val="tx1"/>
                </a:solidFill>
              </a:rPr>
              <a:t>CLASES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7899" y="1690200"/>
            <a:ext cx="8122722" cy="4244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903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611250"/>
            <a:ext cx="2765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800" spc="-20" dirty="0">
                <a:solidFill>
                  <a:schemeClr val="tx1"/>
                </a:solidFill>
                <a:latin typeface="Arial"/>
                <a:cs typeface="Arial"/>
              </a:rPr>
              <a:t>O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CIACIO</a:t>
            </a:r>
            <a:r>
              <a:rPr sz="2800" spc="-1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chemeClr val="tx1"/>
                </a:solidFill>
                <a:latin typeface="Arial"/>
                <a:cs typeface="Arial"/>
              </a:rPr>
              <a:t>ES</a:t>
            </a:r>
            <a:endParaRPr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07452" y="1621979"/>
            <a:ext cx="7227867" cy="3039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marR="147955" indent="-3429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000" dirty="0" smtClean="0">
                <a:latin typeface="Arial"/>
                <a:cs typeface="Arial"/>
              </a:rPr>
              <a:t>La </a:t>
            </a:r>
            <a:r>
              <a:rPr sz="2000" b="1" dirty="0">
                <a:latin typeface="Arial"/>
                <a:cs typeface="Arial"/>
              </a:rPr>
              <a:t>asociación es una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229" dirty="0">
                <a:latin typeface="Arial"/>
                <a:cs typeface="Arial"/>
              </a:rPr>
              <a:t>relación  </a:t>
            </a:r>
            <a:r>
              <a:rPr sz="2000" b="1" dirty="0">
                <a:latin typeface="Arial"/>
                <a:cs typeface="Arial"/>
              </a:rPr>
              <a:t>entre clases </a:t>
            </a:r>
            <a:r>
              <a:rPr sz="2000" dirty="0">
                <a:latin typeface="Arial"/>
                <a:cs typeface="Arial"/>
              </a:rPr>
              <a:t>que indica una  conexión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significativa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 marL="342900" marR="5080" indent="-342900">
              <a:spcBef>
                <a:spcPts val="484"/>
              </a:spcBef>
              <a:buFont typeface="Arial" panose="020B0604020202020204" pitchFamily="34" charset="0"/>
              <a:buChar char="•"/>
            </a:pPr>
            <a:r>
              <a:rPr sz="2000" dirty="0" err="1" smtClean="0">
                <a:latin typeface="Arial"/>
                <a:cs typeface="Arial"/>
              </a:rPr>
              <a:t>Está</a:t>
            </a:r>
            <a:r>
              <a:rPr sz="2000" dirty="0" smtClean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representada como una  línea entre clases </a:t>
            </a:r>
            <a:r>
              <a:rPr sz="2000" dirty="0">
                <a:latin typeface="Arial"/>
                <a:cs typeface="Arial"/>
              </a:rPr>
              <a:t>con nombre.  La asociación es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inherentemente  bidireccional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 marL="342900" marR="94615" indent="-34290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sz="2000" dirty="0" err="1" smtClean="0">
                <a:latin typeface="Arial"/>
                <a:cs typeface="Arial"/>
              </a:rPr>
              <a:t>Es</a:t>
            </a:r>
            <a:r>
              <a:rPr sz="2000" dirty="0" smtClean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convencional </a:t>
            </a:r>
            <a:r>
              <a:rPr sz="2000" b="1" dirty="0">
                <a:latin typeface="Arial"/>
                <a:cs typeface="Arial"/>
              </a:rPr>
              <a:t>leer la  asociación </a:t>
            </a:r>
            <a:r>
              <a:rPr sz="2000" dirty="0">
                <a:latin typeface="Arial"/>
                <a:cs typeface="Arial"/>
              </a:rPr>
              <a:t>de izquierda a  derecha o de arriba hacia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abajo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 marL="404495" marR="149860" indent="-392430">
              <a:spcBef>
                <a:spcPts val="484"/>
              </a:spcBef>
              <a:buFont typeface="Arial" panose="020B0604020202020204" pitchFamily="34" charset="0"/>
              <a:buChar char="•"/>
              <a:tabLst>
                <a:tab pos="404495" algn="l"/>
              </a:tabLst>
            </a:pPr>
            <a:r>
              <a:rPr sz="2000" dirty="0" err="1" smtClean="0">
                <a:latin typeface="Arial"/>
                <a:cs typeface="Arial"/>
              </a:rPr>
              <a:t>Pueden</a:t>
            </a:r>
            <a:r>
              <a:rPr sz="2000" dirty="0" smtClean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existir </a:t>
            </a:r>
            <a:r>
              <a:rPr sz="2000" b="1" dirty="0">
                <a:latin typeface="Arial"/>
                <a:cs typeface="Arial"/>
              </a:rPr>
              <a:t>múltiples  asociaciones </a:t>
            </a:r>
            <a:r>
              <a:rPr sz="2000" dirty="0">
                <a:latin typeface="Arial"/>
                <a:cs typeface="Arial"/>
              </a:rPr>
              <a:t>entre dos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clases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 marL="355600" indent="-34290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sz="2000" dirty="0" smtClean="0">
                <a:latin typeface="Arial"/>
                <a:cs typeface="Arial"/>
              </a:rPr>
              <a:t>Las </a:t>
            </a:r>
            <a:r>
              <a:rPr sz="2000" dirty="0">
                <a:latin typeface="Arial"/>
                <a:cs typeface="Arial"/>
              </a:rPr>
              <a:t>asociaciones pueden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ser</a:t>
            </a:r>
            <a:endParaRPr sz="2000" dirty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latin typeface="Arial"/>
                <a:cs typeface="Arial"/>
              </a:rPr>
              <a:t>binarias, ternarias</a:t>
            </a:r>
            <a:r>
              <a:rPr sz="2000" dirty="0">
                <a:latin typeface="Arial"/>
                <a:cs typeface="Arial"/>
              </a:rPr>
              <a:t>, 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</a:p>
        </p:txBody>
      </p:sp>
    </p:spTree>
    <p:extLst>
      <p:ext uri="{BB962C8B-B14F-4D97-AF65-F5344CB8AC3E}">
        <p14:creationId xmlns:p14="http://schemas.microsoft.com/office/powerpoint/2010/main" val="244578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4896" y="430477"/>
            <a:ext cx="5200364" cy="4885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solidFill>
                  <a:schemeClr val="tx1"/>
                </a:solidFill>
              </a:rPr>
              <a:t>BIBLIOGRAFÍA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BÁSICA</a:t>
            </a:r>
          </a:p>
        </p:txBody>
      </p:sp>
      <p:sp>
        <p:nvSpPr>
          <p:cNvPr id="3" name="object 3"/>
          <p:cNvSpPr/>
          <p:nvPr/>
        </p:nvSpPr>
        <p:spPr>
          <a:xfrm>
            <a:off x="641445" y="1821767"/>
            <a:ext cx="10836322" cy="18085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5188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tángulo redondeado 3"/>
          <p:cNvSpPr/>
          <p:nvPr/>
        </p:nvSpPr>
        <p:spPr>
          <a:xfrm>
            <a:off x="3289111" y="2497540"/>
            <a:ext cx="4981433" cy="24293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PREGUNTAS DE COMPROBACIÓN DE LOGRO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48600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lecha&#10;&#10;Descripción generada automáticamente">
            <a:extLst>
              <a:ext uri="{FF2B5EF4-FFF2-40B4-BE49-F238E27FC236}">
                <a16:creationId xmlns:a16="http://schemas.microsoft.com/office/drawing/2014/main" id="{04BF8D6B-8EA2-4AC4-8326-2A263E72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804849-8A90-4015-970D-D19E955BE140}"/>
              </a:ext>
            </a:extLst>
          </p:cNvPr>
          <p:cNvSpPr txBox="1"/>
          <p:nvPr/>
        </p:nvSpPr>
        <p:spPr>
          <a:xfrm>
            <a:off x="5505965" y="2204326"/>
            <a:ext cx="6686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800" dirty="0">
                <a:solidFill>
                  <a:srgbClr val="FFC000"/>
                </a:solidFill>
                <a:latin typeface="Sharp Grotesk Bold 15" panose="00000806000000000000" pitchFamily="50" charset="0"/>
              </a:rPr>
              <a:t>GRACIAS</a:t>
            </a:r>
            <a:endParaRPr lang="es-PE" sz="10800" dirty="0">
              <a:solidFill>
                <a:srgbClr val="FFC000"/>
              </a:solidFill>
              <a:latin typeface="Sharp Grotesk Bold 15" panose="000008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64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355</Words>
  <Application>Microsoft Office PowerPoint</Application>
  <PresentationFormat>Panorámica</PresentationFormat>
  <Paragraphs>49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20</vt:i4>
      </vt:variant>
    </vt:vector>
  </HeadingPairs>
  <TitlesOfParts>
    <vt:vector size="35" baseType="lpstr">
      <vt:lpstr>Arial</vt:lpstr>
      <vt:lpstr>Calibri</vt:lpstr>
      <vt:lpstr>Carlito</vt:lpstr>
      <vt:lpstr>Sharp Grotesk Bold 15</vt:lpstr>
      <vt:lpstr>Sharp Grotesk Book 15</vt:lpstr>
      <vt:lpstr>Tahoma</vt:lpstr>
      <vt:lpstr>Telegraf</vt:lpstr>
      <vt:lpstr>Times New Roman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4_Diseño personalizado</vt:lpstr>
      <vt:lpstr>Presentación de PowerPoint</vt:lpstr>
      <vt:lpstr>Presentación de PowerPoint</vt:lpstr>
      <vt:lpstr>Presentación de PowerPoint</vt:lpstr>
      <vt:lpstr>REFLEXIONA: Patrones de diseño…</vt:lpstr>
      <vt:lpstr>LOGRO DE LA SESIÓN</vt:lpstr>
      <vt:lpstr>¿EN QUE DISCIPLINA NOS ENCONTRAMOS?</vt:lpstr>
      <vt:lpstr>PATRONES DE DISEÑO DE SOFTWARE.</vt:lpstr>
      <vt:lpstr>ACTIVIDAD A DESARROLLAR</vt:lpstr>
      <vt:lpstr>MODELO DE DATOS</vt:lpstr>
      <vt:lpstr>MODELO CONCEPTUAL</vt:lpstr>
      <vt:lpstr>IMPORTANCIA DEL MODELO CONCEPTUAL</vt:lpstr>
      <vt:lpstr>CONSTRUCCIÓN DEL MODELO  CONCEPTUAL</vt:lpstr>
      <vt:lpstr>LAS CLASES Y SUS ATRIBUTOS</vt:lpstr>
      <vt:lpstr>CATEGORÍAS DE CLASES</vt:lpstr>
      <vt:lpstr>CATEGORÍAS DE CLASES</vt:lpstr>
      <vt:lpstr>ASOCIACIONES</vt:lpstr>
      <vt:lpstr>BIBLIOGRAFÍA BÁSICA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C. La Madrid Cruz</dc:creator>
  <cp:lastModifiedBy>HP</cp:lastModifiedBy>
  <cp:revision>21</cp:revision>
  <dcterms:created xsi:type="dcterms:W3CDTF">2021-09-09T21:43:32Z</dcterms:created>
  <dcterms:modified xsi:type="dcterms:W3CDTF">2022-02-23T12:03:33Z</dcterms:modified>
</cp:coreProperties>
</file>