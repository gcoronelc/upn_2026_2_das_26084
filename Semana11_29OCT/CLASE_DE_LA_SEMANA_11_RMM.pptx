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9" r:id="rId4"/>
    <p:sldMasterId id="2147483661" r:id="rId5"/>
    <p:sldMasterId id="2147483663" r:id="rId6"/>
  </p:sldMasterIdLst>
  <p:sldIdLst>
    <p:sldId id="256" r:id="rId7"/>
    <p:sldId id="321" r:id="rId8"/>
    <p:sldId id="362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61" r:id="rId19"/>
    <p:sldId id="343" r:id="rId20"/>
    <p:sldId id="269" r:id="rId21"/>
    <p:sldId id="270" r:id="rId2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6376" y="293874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1725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79546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180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8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4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85D25E8E-B890-4A13-99F2-7DC31D25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2D3C6-A3D3-4D45-A5FD-155927F56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87613" y="233363"/>
            <a:ext cx="5561234" cy="85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accent4"/>
                </a:solidFill>
                <a:latin typeface="Sharp Grotesk Bold 15" panose="00000806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TÍTULO XXXXXXXX</a:t>
            </a:r>
          </a:p>
        </p:txBody>
      </p:sp>
    </p:spTree>
    <p:extLst>
      <p:ext uri="{BB962C8B-B14F-4D97-AF65-F5344CB8AC3E}">
        <p14:creationId xmlns:p14="http://schemas.microsoft.com/office/powerpoint/2010/main" val="41101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54009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33973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44837F6-2A27-4DBE-9495-F9D0DF2BC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367208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7332F7A3-166E-4BB2-AEB2-E73F5DA78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435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AD77459-4269-4D5A-9874-C5DB7352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996600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B663196-7267-4AF6-811F-24902DFC93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3063999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367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5F7A102-59E9-4B20-B2B2-4884E0A76F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E325EE4D-F5B5-44BB-B250-8EAD3A940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BC0EC00A-0BE9-4684-99EE-10A1F0A48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B12E335-06DA-423E-B9C4-71EA12898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D0EF54E5-D79B-47B2-950F-5559D299EB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2958C382-A56B-4118-AFB5-3FCB4B94B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Descripción generada automáticamente">
            <a:extLst>
              <a:ext uri="{FF2B5EF4-FFF2-40B4-BE49-F238E27FC236}">
                <a16:creationId xmlns:a16="http://schemas.microsoft.com/office/drawing/2014/main" id="{2FE88096-1BC1-4875-A4EA-4642B7221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AF9449-40BD-4FD4-8A96-15E17BB9A253}"/>
              </a:ext>
            </a:extLst>
          </p:cNvPr>
          <p:cNvSpPr txBox="1"/>
          <p:nvPr/>
        </p:nvSpPr>
        <p:spPr>
          <a:xfrm>
            <a:off x="5690937" y="670156"/>
            <a:ext cx="3886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Sharp Grotesk Book 15" panose="00000506000000000000" pitchFamily="50" charset="0"/>
              </a:rPr>
              <a:t>UPN, PASIÓN POR</a:t>
            </a:r>
          </a:p>
          <a:p>
            <a:r>
              <a:rPr lang="es-ES" sz="2800" b="1" dirty="0">
                <a:latin typeface="Sharp Grotesk Book 15" panose="00000506000000000000" pitchFamily="50" charset="0"/>
              </a:rPr>
              <a:t>TRANSFORMAR VIDAS</a:t>
            </a:r>
            <a:endParaRPr lang="es-PE" sz="2800" b="1" dirty="0">
              <a:latin typeface="Sharp Grotesk Book 15" panose="00000506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6D3AF5-D29A-4704-B9ED-CB2BE7AB7E6E}"/>
              </a:ext>
            </a:extLst>
          </p:cNvPr>
          <p:cNvSpPr txBox="1"/>
          <p:nvPr/>
        </p:nvSpPr>
        <p:spPr>
          <a:xfrm>
            <a:off x="5843337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latin typeface="Sharp Grotesk Book 15" panose="00000506000000000000" pitchFamily="50" charset="0"/>
              </a:rPr>
              <a:t>rmenendez@upn.edu.pe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4551022" y="3156186"/>
            <a:ext cx="6989445" cy="20415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50"/>
              </a:spcBef>
            </a:pPr>
            <a:r>
              <a:rPr lang="es-ES" sz="2800" spc="-15" dirty="0"/>
              <a:t>UNIDAD 3:</a:t>
            </a:r>
          </a:p>
          <a:p>
            <a:pPr marL="12700" algn="ctr">
              <a:lnSpc>
                <a:spcPct val="100000"/>
              </a:lnSpc>
              <a:spcBef>
                <a:spcPts val="550"/>
              </a:spcBef>
            </a:pPr>
            <a:r>
              <a:rPr lang="es-ES" sz="2800" spc="-15" dirty="0"/>
              <a:t>PATRONES DE </a:t>
            </a:r>
            <a:r>
              <a:rPr lang="es-ES" sz="2800" spc="-15" dirty="0" smtClean="0"/>
              <a:t>DISEÑO-IMPLEMENTACION</a:t>
            </a:r>
          </a:p>
          <a:p>
            <a:pPr marL="12700" algn="ctr">
              <a:lnSpc>
                <a:spcPct val="100000"/>
              </a:lnSpc>
              <a:spcBef>
                <a:spcPts val="550"/>
              </a:spcBef>
            </a:pPr>
            <a:r>
              <a:rPr lang="es-ES" sz="2800" dirty="0">
                <a:solidFill>
                  <a:srgbClr val="FF0000"/>
                </a:solidFill>
              </a:rPr>
              <a:t>SESIÓN 11: Ingeniería inversa.</a:t>
            </a:r>
          </a:p>
          <a:p>
            <a:pPr marL="12700" algn="ctr">
              <a:lnSpc>
                <a:spcPct val="100000"/>
              </a:lnSpc>
              <a:spcBef>
                <a:spcPts val="550"/>
              </a:spcBef>
            </a:pPr>
            <a:endParaRPr lang="es-E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2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CuadroTexto 3"/>
          <p:cNvSpPr txBox="1"/>
          <p:nvPr/>
        </p:nvSpPr>
        <p:spPr>
          <a:xfrm>
            <a:off x="3289110" y="136478"/>
            <a:ext cx="49541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MOTIVACIÓN</a:t>
            </a:r>
          </a:p>
          <a:p>
            <a:endParaRPr lang="de-DE" sz="32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365" y="2586390"/>
            <a:ext cx="6293177" cy="186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6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03476" y="1994358"/>
            <a:ext cx="4248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SESIÓN </a:t>
            </a:r>
            <a:r>
              <a:rPr sz="2400" spc="-55" dirty="0">
                <a:latin typeface="Arial"/>
                <a:cs typeface="Arial"/>
              </a:rPr>
              <a:t>11: </a:t>
            </a:r>
            <a:r>
              <a:rPr sz="2400" spc="-5" dirty="0">
                <a:latin typeface="Arial"/>
                <a:cs typeface="Arial"/>
              </a:rPr>
              <a:t>Ingeniería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inversa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1784" y="3712464"/>
            <a:ext cx="8138159" cy="1923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941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4871" y="324054"/>
            <a:ext cx="2781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/>
              <a:t>REFLEXIONA</a:t>
            </a:r>
            <a:r>
              <a:rPr sz="3600" spc="-15" dirty="0"/>
              <a:t>: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248621" y="1673034"/>
            <a:ext cx="6211824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551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4" y="581026"/>
            <a:ext cx="440182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0" spc="-15" dirty="0">
                <a:solidFill>
                  <a:schemeClr val="tx1"/>
                </a:solidFill>
                <a:latin typeface="Arial"/>
                <a:cs typeface="Arial"/>
              </a:rPr>
              <a:t>LOGRO </a:t>
            </a:r>
            <a:r>
              <a:rPr sz="3200" b="0" spc="-10" dirty="0">
                <a:solidFill>
                  <a:schemeClr val="tx1"/>
                </a:solidFill>
                <a:latin typeface="Arial"/>
                <a:cs typeface="Arial"/>
              </a:rPr>
              <a:t>DE LA</a:t>
            </a:r>
            <a:r>
              <a:rPr sz="3200" b="0" spc="-1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200" b="0" spc="-5" dirty="0">
                <a:solidFill>
                  <a:schemeClr val="tx1"/>
                </a:solidFill>
                <a:latin typeface="Arial"/>
                <a:cs typeface="Arial"/>
              </a:rPr>
              <a:t>SESIÓN</a:t>
            </a:r>
            <a:endParaRPr sz="32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16599" y="1330434"/>
            <a:ext cx="8271524" cy="2872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20797" y="2260549"/>
            <a:ext cx="732409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sz="2000" spc="-5" dirty="0">
                <a:latin typeface="Carlito"/>
                <a:cs typeface="Carlito"/>
              </a:rPr>
              <a:t>Al término de la sesión, </a:t>
            </a:r>
            <a:r>
              <a:rPr sz="2000" spc="-10" dirty="0">
                <a:latin typeface="Carlito"/>
                <a:cs typeface="Carlito"/>
              </a:rPr>
              <a:t>el estudiante </a:t>
            </a:r>
            <a:r>
              <a:rPr sz="2000" spc="-5" dirty="0">
                <a:latin typeface="Carlito"/>
                <a:cs typeface="Carlito"/>
              </a:rPr>
              <a:t>comprende los </a:t>
            </a:r>
            <a:r>
              <a:rPr sz="2000" spc="-10" dirty="0">
                <a:latin typeface="Carlito"/>
                <a:cs typeface="Carlito"/>
              </a:rPr>
              <a:t>patrones </a:t>
            </a:r>
            <a:r>
              <a:rPr sz="2000" dirty="0">
                <a:latin typeface="Carlito"/>
                <a:cs typeface="Carlito"/>
              </a:rPr>
              <a:t>de  </a:t>
            </a:r>
            <a:r>
              <a:rPr sz="2000" spc="-5" dirty="0">
                <a:latin typeface="Carlito"/>
                <a:cs typeface="Carlito"/>
              </a:rPr>
              <a:t>diseño y </a:t>
            </a:r>
            <a:r>
              <a:rPr sz="2000" spc="-15" dirty="0">
                <a:latin typeface="Carlito"/>
                <a:cs typeface="Carlito"/>
              </a:rPr>
              <a:t>su </a:t>
            </a:r>
            <a:r>
              <a:rPr sz="2000" spc="-5" dirty="0">
                <a:latin typeface="Carlito"/>
                <a:cs typeface="Carlito"/>
              </a:rPr>
              <a:t>implementación </a:t>
            </a:r>
            <a:r>
              <a:rPr sz="2000" spc="-10" dirty="0">
                <a:latin typeface="Carlito"/>
                <a:cs typeface="Carlito"/>
              </a:rPr>
              <a:t>en </a:t>
            </a:r>
            <a:r>
              <a:rPr sz="2000" spc="-5" dirty="0">
                <a:latin typeface="Carlito"/>
                <a:cs typeface="Carlito"/>
              </a:rPr>
              <a:t>un </a:t>
            </a:r>
            <a:r>
              <a:rPr sz="2000" spc="-15" dirty="0">
                <a:latin typeface="Carlito"/>
                <a:cs typeface="Carlito"/>
              </a:rPr>
              <a:t>caso </a:t>
            </a:r>
            <a:r>
              <a:rPr sz="2000" spc="-5" dirty="0">
                <a:latin typeface="Carlito"/>
                <a:cs typeface="Carlito"/>
              </a:rPr>
              <a:t>empresarial real, usando la  </a:t>
            </a:r>
            <a:r>
              <a:rPr sz="2000" spc="-15" dirty="0">
                <a:latin typeface="Carlito"/>
                <a:cs typeface="Carlito"/>
              </a:rPr>
              <a:t>herramienta </a:t>
            </a:r>
            <a:r>
              <a:rPr sz="2000" spc="-10" dirty="0">
                <a:latin typeface="Carlito"/>
                <a:cs typeface="Carlito"/>
              </a:rPr>
              <a:t>CASE </a:t>
            </a:r>
            <a:r>
              <a:rPr sz="2000" spc="-25" dirty="0">
                <a:latin typeface="Carlito"/>
                <a:cs typeface="Carlito"/>
              </a:rPr>
              <a:t>RSA </a:t>
            </a:r>
            <a:r>
              <a:rPr sz="2000" spc="-5" dirty="0">
                <a:latin typeface="Carlito"/>
                <a:cs typeface="Carlito"/>
              </a:rPr>
              <a:t>Rational </a:t>
            </a:r>
            <a:r>
              <a:rPr sz="2000" spc="-15" dirty="0">
                <a:latin typeface="Carlito"/>
                <a:cs typeface="Carlito"/>
              </a:rPr>
              <a:t>Software</a:t>
            </a:r>
            <a:r>
              <a:rPr sz="2000" spc="23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Architect.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09916" y="4355530"/>
            <a:ext cx="8274578" cy="2003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72970" y="4624196"/>
            <a:ext cx="6743734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Carlito"/>
                <a:cs typeface="Carlito"/>
              </a:rPr>
              <a:t>Temario</a:t>
            </a:r>
            <a:r>
              <a:rPr spc="-25" dirty="0">
                <a:latin typeface="Carlito"/>
                <a:cs typeface="Carlito"/>
              </a:rPr>
              <a:t>:</a:t>
            </a:r>
            <a:endParaRPr dirty="0">
              <a:latin typeface="Carlito"/>
              <a:cs typeface="Carlito"/>
            </a:endParaRPr>
          </a:p>
          <a:p>
            <a:pPr marL="356870" indent="-344805">
              <a:buAutoNum type="arabicPeriod"/>
              <a:tabLst>
                <a:tab pos="356870" algn="l"/>
                <a:tab pos="357505" algn="l"/>
              </a:tabLst>
            </a:pPr>
            <a:r>
              <a:rPr spc="-10" dirty="0">
                <a:latin typeface="Carlito"/>
                <a:cs typeface="Carlito"/>
              </a:rPr>
              <a:t>Definición </a:t>
            </a:r>
            <a:r>
              <a:rPr spc="-5" dirty="0">
                <a:latin typeface="Carlito"/>
                <a:cs typeface="Carlito"/>
              </a:rPr>
              <a:t>de </a:t>
            </a:r>
            <a:r>
              <a:rPr spc="-10" dirty="0">
                <a:latin typeface="Carlito"/>
                <a:cs typeface="Carlito"/>
              </a:rPr>
              <a:t>ingeniería</a:t>
            </a:r>
            <a:r>
              <a:rPr spc="145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inversa</a:t>
            </a:r>
            <a:r>
              <a:rPr spc="-15" dirty="0">
                <a:latin typeface="Carlito"/>
                <a:cs typeface="Carlito"/>
              </a:rPr>
              <a:t>.</a:t>
            </a:r>
            <a:endParaRPr dirty="0">
              <a:latin typeface="Carlito"/>
              <a:cs typeface="Carlito"/>
            </a:endParaRPr>
          </a:p>
          <a:p>
            <a:pPr marL="356870" indent="-344805">
              <a:buAutoNum type="arabicPeriod"/>
              <a:tabLst>
                <a:tab pos="356870" algn="l"/>
                <a:tab pos="357505" algn="l"/>
              </a:tabLst>
            </a:pPr>
            <a:r>
              <a:rPr spc="-5" dirty="0">
                <a:latin typeface="Carlito"/>
                <a:cs typeface="Carlito"/>
              </a:rPr>
              <a:t>Caso</a:t>
            </a:r>
            <a:r>
              <a:rPr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empresarial</a:t>
            </a:r>
            <a:r>
              <a:rPr spc="-10" dirty="0">
                <a:latin typeface="Carlito"/>
                <a:cs typeface="Carlito"/>
              </a:rPr>
              <a:t>.</a:t>
            </a:r>
            <a:endParaRPr dirty="0">
              <a:latin typeface="Carlito"/>
              <a:cs typeface="Carlito"/>
            </a:endParaRPr>
          </a:p>
          <a:p>
            <a:pPr marL="356870" indent="-344805">
              <a:buAutoNum type="arabicPeriod"/>
              <a:tabLst>
                <a:tab pos="356870" algn="l"/>
                <a:tab pos="357505" algn="l"/>
              </a:tabLst>
            </a:pPr>
            <a:r>
              <a:rPr spc="-5" dirty="0">
                <a:latin typeface="Carlito"/>
                <a:cs typeface="Carlito"/>
              </a:rPr>
              <a:t>Modelo de </a:t>
            </a:r>
            <a:r>
              <a:rPr spc="-10" dirty="0">
                <a:latin typeface="Carlito"/>
                <a:cs typeface="Carlito"/>
              </a:rPr>
              <a:t>diseño </a:t>
            </a:r>
            <a:r>
              <a:rPr dirty="0">
                <a:latin typeface="Carlito"/>
                <a:cs typeface="Carlito"/>
              </a:rPr>
              <a:t>y la </a:t>
            </a:r>
            <a:r>
              <a:rPr spc="-15" dirty="0">
                <a:latin typeface="Carlito"/>
                <a:cs typeface="Carlito"/>
              </a:rPr>
              <a:t>ingeniería </a:t>
            </a:r>
            <a:r>
              <a:rPr spc="-20" dirty="0">
                <a:latin typeface="Carlito"/>
                <a:cs typeface="Carlito"/>
              </a:rPr>
              <a:t>inversa</a:t>
            </a:r>
            <a:r>
              <a:rPr spc="254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.</a:t>
            </a:r>
          </a:p>
          <a:p>
            <a:pPr marL="356870" indent="-344805">
              <a:buAutoNum type="arabicPeriod"/>
              <a:tabLst>
                <a:tab pos="356870" algn="l"/>
                <a:tab pos="357505" algn="l"/>
              </a:tabLst>
            </a:pPr>
            <a:r>
              <a:rPr spc="-5" dirty="0">
                <a:latin typeface="Carlito"/>
                <a:cs typeface="Carlito"/>
              </a:rPr>
              <a:t>Rational </a:t>
            </a:r>
            <a:r>
              <a:rPr spc="-10" dirty="0">
                <a:latin typeface="Carlito"/>
                <a:cs typeface="Carlito"/>
              </a:rPr>
              <a:t>architect </a:t>
            </a:r>
            <a:r>
              <a:rPr dirty="0">
                <a:latin typeface="Carlito"/>
                <a:cs typeface="Carlito"/>
              </a:rPr>
              <a:t>y </a:t>
            </a:r>
            <a:r>
              <a:rPr spc="-5" dirty="0">
                <a:latin typeface="Carlito"/>
                <a:cs typeface="Carlito"/>
              </a:rPr>
              <a:t>la </a:t>
            </a:r>
            <a:r>
              <a:rPr spc="-15" dirty="0">
                <a:latin typeface="Carlito"/>
                <a:cs typeface="Carlito"/>
              </a:rPr>
              <a:t>ingeniería</a:t>
            </a:r>
            <a:r>
              <a:rPr spc="125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inversa</a:t>
            </a:r>
            <a:r>
              <a:rPr spc="-15" dirty="0">
                <a:latin typeface="Carlito"/>
                <a:cs typeface="Carlito"/>
              </a:rPr>
              <a:t>.</a:t>
            </a:r>
            <a:endParaRPr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8702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79831" y="339873"/>
            <a:ext cx="8727489" cy="4885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chemeClr val="tx1"/>
                </a:solidFill>
              </a:rPr>
              <a:t>¿EN QUE DISCIPLINA NOS</a:t>
            </a:r>
            <a:r>
              <a:rPr spc="-27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ENCONTRAMOS?</a:t>
            </a:r>
          </a:p>
        </p:txBody>
      </p:sp>
      <p:sp>
        <p:nvSpPr>
          <p:cNvPr id="9" name="object 9"/>
          <p:cNvSpPr/>
          <p:nvPr/>
        </p:nvSpPr>
        <p:spPr>
          <a:xfrm>
            <a:off x="1981200" y="1767839"/>
            <a:ext cx="8229600" cy="4514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44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69427" y="238302"/>
            <a:ext cx="6565140" cy="48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chemeClr val="tx1"/>
                </a:solidFill>
              </a:rPr>
              <a:t>INGENIERÍA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INVERSA</a:t>
            </a:r>
          </a:p>
        </p:txBody>
      </p:sp>
      <p:sp>
        <p:nvSpPr>
          <p:cNvPr id="9" name="object 9"/>
          <p:cNvSpPr/>
          <p:nvPr/>
        </p:nvSpPr>
        <p:spPr>
          <a:xfrm>
            <a:off x="2328672" y="1417320"/>
            <a:ext cx="7534656" cy="45537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85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2125" y="185377"/>
            <a:ext cx="376491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chemeClr val="tx1"/>
                </a:solidFill>
              </a:rPr>
              <a:t>INGENIERÍA</a:t>
            </a:r>
            <a:r>
              <a:rPr sz="3600" spc="-235" dirty="0">
                <a:solidFill>
                  <a:schemeClr val="tx1"/>
                </a:solidFill>
              </a:rPr>
              <a:t> </a:t>
            </a:r>
            <a:r>
              <a:rPr sz="3600" dirty="0">
                <a:solidFill>
                  <a:schemeClr val="tx1"/>
                </a:solidFill>
              </a:rPr>
              <a:t>INVERSA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1628013"/>
            <a:ext cx="2526665" cy="3378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805" algn="just">
              <a:spcBef>
                <a:spcPts val="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Arial"/>
                <a:cs typeface="Arial"/>
              </a:rPr>
              <a:t>El objetivo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de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la</a:t>
            </a:r>
            <a:endParaRPr sz="2000" dirty="0">
              <a:latin typeface="Arial"/>
              <a:cs typeface="Arial"/>
            </a:endParaRPr>
          </a:p>
          <a:p>
            <a:pPr marL="356870" algn="just"/>
            <a:r>
              <a:rPr sz="2000" b="1" spc="-5" dirty="0">
                <a:latin typeface="Arial"/>
                <a:cs typeface="Arial"/>
              </a:rPr>
              <a:t>ingeniería</a:t>
            </a:r>
            <a:endParaRPr sz="2000" dirty="0">
              <a:latin typeface="Arial"/>
              <a:cs typeface="Arial"/>
            </a:endParaRPr>
          </a:p>
          <a:p>
            <a:pPr marL="356870" marR="5080" algn="just">
              <a:spcBef>
                <a:spcPts val="5"/>
              </a:spcBef>
            </a:pPr>
            <a:r>
              <a:rPr sz="2000" b="1" spc="-5" dirty="0">
                <a:latin typeface="Arial"/>
                <a:cs typeface="Arial"/>
              </a:rPr>
              <a:t>inversa </a:t>
            </a:r>
            <a:r>
              <a:rPr sz="2000" spc="-5" dirty="0">
                <a:latin typeface="Arial"/>
                <a:cs typeface="Arial"/>
              </a:rPr>
              <a:t>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obtener  </a:t>
            </a:r>
            <a:r>
              <a:rPr sz="2000" spc="-5" dirty="0">
                <a:latin typeface="Arial"/>
                <a:cs typeface="Arial"/>
              </a:rPr>
              <a:t>información o un  </a:t>
            </a:r>
            <a:r>
              <a:rPr sz="2000" spc="-10" dirty="0">
                <a:latin typeface="Arial"/>
                <a:cs typeface="Arial"/>
              </a:rPr>
              <a:t>diseño </a:t>
            </a:r>
            <a:r>
              <a:rPr sz="2000" spc="-5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partir </a:t>
            </a:r>
            <a:r>
              <a:rPr sz="2000" spc="-5" dirty="0">
                <a:latin typeface="Arial"/>
                <a:cs typeface="Arial"/>
              </a:rPr>
              <a:t>de  un producto, con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el  fin </a:t>
            </a:r>
            <a:r>
              <a:rPr sz="2000" spc="-10" dirty="0">
                <a:latin typeface="Arial"/>
                <a:cs typeface="Arial"/>
              </a:rPr>
              <a:t>de </a:t>
            </a:r>
            <a:r>
              <a:rPr sz="2000" spc="-5" dirty="0">
                <a:latin typeface="Arial"/>
                <a:cs typeface="Arial"/>
              </a:rPr>
              <a:t>determinar  de </a:t>
            </a:r>
            <a:r>
              <a:rPr sz="2000" spc="-10" dirty="0">
                <a:latin typeface="Arial"/>
                <a:cs typeface="Arial"/>
              </a:rPr>
              <a:t>qué </a:t>
            </a:r>
            <a:r>
              <a:rPr sz="2000" spc="-5" dirty="0">
                <a:latin typeface="Arial"/>
                <a:cs typeface="Arial"/>
              </a:rPr>
              <a:t>está </a:t>
            </a:r>
            <a:r>
              <a:rPr sz="2000" spc="-10" dirty="0">
                <a:latin typeface="Arial"/>
                <a:cs typeface="Arial"/>
              </a:rPr>
              <a:t>hecho,  qué lo </a:t>
            </a:r>
            <a:r>
              <a:rPr sz="2000" spc="-5" dirty="0">
                <a:latin typeface="Arial"/>
                <a:cs typeface="Arial"/>
              </a:rPr>
              <a:t>hace  funcionar y </a:t>
            </a:r>
            <a:r>
              <a:rPr sz="2000" spc="5" dirty="0">
                <a:latin typeface="Arial"/>
                <a:cs typeface="Arial"/>
              </a:rPr>
              <a:t>cómo  </a:t>
            </a:r>
            <a:r>
              <a:rPr sz="2000" dirty="0">
                <a:latin typeface="Arial"/>
                <a:cs typeface="Arial"/>
              </a:rPr>
              <a:t>fue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fabricado</a:t>
            </a:r>
            <a:r>
              <a:rPr sz="2000" spc="-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04815" y="1600200"/>
            <a:ext cx="5452872" cy="3517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776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0096" y="346317"/>
            <a:ext cx="4081248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solidFill>
                  <a:schemeClr val="tx1"/>
                </a:solidFill>
              </a:rPr>
              <a:t>U</a:t>
            </a:r>
            <a:r>
              <a:rPr spc="5" dirty="0">
                <a:solidFill>
                  <a:schemeClr val="tx1"/>
                </a:solidFill>
              </a:rPr>
              <a:t>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5026" y="1654237"/>
            <a:ext cx="3348354" cy="4049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 algn="just">
              <a:spcBef>
                <a:spcPts val="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Arial"/>
                <a:cs typeface="Arial"/>
              </a:rPr>
              <a:t>La </a:t>
            </a:r>
            <a:r>
              <a:rPr sz="2000" spc="-10" dirty="0">
                <a:latin typeface="Arial"/>
                <a:cs typeface="Arial"/>
              </a:rPr>
              <a:t>ingeniería inversa tiene  </a:t>
            </a:r>
            <a:r>
              <a:rPr sz="2000" dirty="0">
                <a:latin typeface="Arial"/>
                <a:cs typeface="Arial"/>
              </a:rPr>
              <a:t>muchas </a:t>
            </a:r>
            <a:r>
              <a:rPr sz="2000" spc="-10" dirty="0">
                <a:latin typeface="Arial"/>
                <a:cs typeface="Arial"/>
              </a:rPr>
              <a:t>aplicaciones </a:t>
            </a:r>
            <a:r>
              <a:rPr sz="2000" spc="-5" dirty="0">
                <a:latin typeface="Arial"/>
                <a:cs typeface="Arial"/>
              </a:rPr>
              <a:t>en el  </a:t>
            </a:r>
            <a:r>
              <a:rPr sz="2000" dirty="0">
                <a:latin typeface="Arial"/>
                <a:cs typeface="Arial"/>
              </a:rPr>
              <a:t>mundo </a:t>
            </a:r>
            <a:r>
              <a:rPr sz="2000" spc="-10" dirty="0">
                <a:latin typeface="Arial"/>
                <a:cs typeface="Arial"/>
              </a:rPr>
              <a:t>actual </a:t>
            </a:r>
            <a:r>
              <a:rPr sz="2000" spc="-5" dirty="0">
                <a:latin typeface="Arial"/>
                <a:cs typeface="Arial"/>
              </a:rPr>
              <a:t>y es  </a:t>
            </a:r>
            <a:r>
              <a:rPr sz="2000" spc="-10" dirty="0">
                <a:latin typeface="Arial"/>
                <a:cs typeface="Arial"/>
              </a:rPr>
              <a:t>aplicada por todo tipo </a:t>
            </a:r>
            <a:r>
              <a:rPr sz="2000" spc="-5" dirty="0">
                <a:latin typeface="Arial"/>
                <a:cs typeface="Arial"/>
              </a:rPr>
              <a:t>de  </a:t>
            </a:r>
            <a:r>
              <a:rPr sz="2000" dirty="0">
                <a:latin typeface="Arial"/>
                <a:cs typeface="Arial"/>
              </a:rPr>
              <a:t>empresas, </a:t>
            </a:r>
            <a:r>
              <a:rPr sz="2000" spc="-5" dirty="0">
                <a:latin typeface="Arial"/>
                <a:cs typeface="Arial"/>
              </a:rPr>
              <a:t>de </a:t>
            </a:r>
            <a:r>
              <a:rPr sz="2000" spc="-10" dirty="0">
                <a:latin typeface="Arial"/>
                <a:cs typeface="Arial"/>
              </a:rPr>
              <a:t>todos los  </a:t>
            </a:r>
            <a:r>
              <a:rPr sz="2000" spc="-5" dirty="0">
                <a:latin typeface="Arial"/>
                <a:cs typeface="Arial"/>
              </a:rPr>
              <a:t>ámbitos </a:t>
            </a:r>
            <a:r>
              <a:rPr sz="2000" spc="-10" dirty="0">
                <a:latin typeface="Arial"/>
                <a:cs typeface="Arial"/>
              </a:rPr>
              <a:t>tecnológicos.  </a:t>
            </a:r>
            <a:r>
              <a:rPr sz="2000" spc="-15" dirty="0">
                <a:latin typeface="Arial"/>
                <a:cs typeface="Arial"/>
              </a:rPr>
              <a:t>Algunos </a:t>
            </a:r>
            <a:r>
              <a:rPr sz="2000" spc="-5" dirty="0">
                <a:latin typeface="Arial"/>
                <a:cs typeface="Arial"/>
              </a:rPr>
              <a:t>de </a:t>
            </a:r>
            <a:r>
              <a:rPr sz="2000" spc="-10" dirty="0">
                <a:latin typeface="Arial"/>
                <a:cs typeface="Arial"/>
              </a:rPr>
              <a:t>los </a:t>
            </a:r>
            <a:r>
              <a:rPr sz="2000" spc="-5" dirty="0">
                <a:latin typeface="Arial"/>
                <a:cs typeface="Arial"/>
              </a:rPr>
              <a:t>usos  </a:t>
            </a:r>
            <a:r>
              <a:rPr sz="2000" spc="-10" dirty="0">
                <a:latin typeface="Arial"/>
                <a:cs typeface="Arial"/>
              </a:rPr>
              <a:t>principales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son:</a:t>
            </a:r>
            <a:endParaRPr sz="2000" dirty="0">
              <a:latin typeface="Arial"/>
              <a:cs typeface="Arial"/>
            </a:endParaRPr>
          </a:p>
          <a:p>
            <a:pPr marL="356870" marR="128270" indent="-344805" algn="just">
              <a:spcBef>
                <a:spcPts val="4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20" dirty="0">
                <a:latin typeface="Arial"/>
                <a:cs typeface="Arial"/>
              </a:rPr>
              <a:t>Investigar, </a:t>
            </a:r>
            <a:r>
              <a:rPr sz="2000" spc="-15" dirty="0">
                <a:latin typeface="Arial"/>
                <a:cs typeface="Arial"/>
              </a:rPr>
              <a:t>analizar </a:t>
            </a:r>
            <a:r>
              <a:rPr sz="2000" spc="-5" dirty="0">
                <a:latin typeface="Arial"/>
                <a:cs typeface="Arial"/>
              </a:rPr>
              <a:t>y  comprender </a:t>
            </a:r>
            <a:r>
              <a:rPr sz="2000" spc="-10" dirty="0">
                <a:latin typeface="Arial"/>
                <a:cs typeface="Arial"/>
              </a:rPr>
              <a:t>la tecnología  </a:t>
            </a:r>
            <a:r>
              <a:rPr sz="2000" spc="-15" dirty="0">
                <a:latin typeface="Arial"/>
                <a:cs typeface="Arial"/>
              </a:rPr>
              <a:t>utilizada </a:t>
            </a:r>
            <a:r>
              <a:rPr sz="2000" spc="-10" dirty="0">
                <a:latin typeface="Arial"/>
                <a:cs typeface="Arial"/>
              </a:rPr>
              <a:t>por </a:t>
            </a:r>
            <a:r>
              <a:rPr sz="2000" spc="-5" dirty="0">
                <a:latin typeface="Arial"/>
                <a:cs typeface="Arial"/>
              </a:rPr>
              <a:t>otras  </a:t>
            </a:r>
            <a:r>
              <a:rPr sz="2000" spc="-10" dirty="0">
                <a:latin typeface="Arial"/>
                <a:cs typeface="Arial"/>
              </a:rPr>
              <a:t>naciones </a:t>
            </a:r>
            <a:r>
              <a:rPr sz="2000" spc="-5" dirty="0">
                <a:latin typeface="Arial"/>
                <a:cs typeface="Arial"/>
              </a:rPr>
              <a:t>o </a:t>
            </a:r>
            <a:r>
              <a:rPr sz="2000" spc="-10" dirty="0">
                <a:latin typeface="Arial"/>
                <a:cs typeface="Arial"/>
              </a:rPr>
              <a:t>por </a:t>
            </a:r>
            <a:r>
              <a:rPr sz="2000" spc="-5" dirty="0">
                <a:latin typeface="Arial"/>
                <a:cs typeface="Arial"/>
              </a:rPr>
              <a:t>otras  </a:t>
            </a:r>
            <a:r>
              <a:rPr sz="2000" dirty="0">
                <a:latin typeface="Arial"/>
                <a:cs typeface="Arial"/>
              </a:rPr>
              <a:t>empresas</a:t>
            </a:r>
            <a:r>
              <a:rPr sz="20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5404513" y="1895627"/>
            <a:ext cx="5433720" cy="3413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750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4" y="335502"/>
            <a:ext cx="378099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chemeClr val="tx1"/>
                </a:solidFill>
              </a:rPr>
              <a:t>U</a:t>
            </a:r>
            <a:r>
              <a:rPr spc="5" dirty="0">
                <a:solidFill>
                  <a:schemeClr val="tx1"/>
                </a:solidFill>
              </a:rPr>
              <a:t>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1528" y="1628013"/>
            <a:ext cx="3682365" cy="3439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spcBef>
                <a:spcPts val="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Arial"/>
                <a:cs typeface="Arial"/>
              </a:rPr>
              <a:t>Desarrollar productos </a:t>
            </a:r>
            <a:r>
              <a:rPr sz="2000" spc="-10" dirty="0">
                <a:latin typeface="Arial"/>
                <a:cs typeface="Arial"/>
              </a:rPr>
              <a:t>que  </a:t>
            </a:r>
            <a:r>
              <a:rPr sz="2000" spc="-5" dirty="0">
                <a:latin typeface="Arial"/>
                <a:cs typeface="Arial"/>
              </a:rPr>
              <a:t>sean compatibles </a:t>
            </a:r>
            <a:r>
              <a:rPr sz="2000" dirty="0">
                <a:latin typeface="Arial"/>
                <a:cs typeface="Arial"/>
              </a:rPr>
              <a:t>con </a:t>
            </a:r>
            <a:r>
              <a:rPr sz="2000" spc="-5" dirty="0">
                <a:latin typeface="Arial"/>
                <a:cs typeface="Arial"/>
              </a:rPr>
              <a:t>otros  productos, </a:t>
            </a:r>
            <a:r>
              <a:rPr sz="2000" spc="-10" dirty="0">
                <a:latin typeface="Arial"/>
                <a:cs typeface="Arial"/>
              </a:rPr>
              <a:t>sin tener </a:t>
            </a:r>
            <a:r>
              <a:rPr sz="2000" spc="-5" dirty="0">
                <a:latin typeface="Arial"/>
                <a:cs typeface="Arial"/>
              </a:rPr>
              <a:t>acceso a  </a:t>
            </a:r>
            <a:r>
              <a:rPr sz="2000" spc="-10" dirty="0">
                <a:latin typeface="Arial"/>
                <a:cs typeface="Arial"/>
              </a:rPr>
              <a:t>los detalles técnicos </a:t>
            </a:r>
            <a:r>
              <a:rPr sz="2000" spc="-5" dirty="0">
                <a:latin typeface="Arial"/>
                <a:cs typeface="Arial"/>
              </a:rPr>
              <a:t>de </a:t>
            </a:r>
            <a:r>
              <a:rPr sz="2000" spc="-10" dirty="0">
                <a:latin typeface="Arial"/>
                <a:cs typeface="Arial"/>
              </a:rPr>
              <a:t>estos  </a:t>
            </a:r>
            <a:r>
              <a:rPr sz="2000" spc="-5" dirty="0">
                <a:latin typeface="Arial"/>
                <a:cs typeface="Arial"/>
              </a:rPr>
              <a:t>últimos.</a:t>
            </a:r>
            <a:endParaRPr sz="2000">
              <a:latin typeface="Arial"/>
              <a:cs typeface="Arial"/>
            </a:endParaRPr>
          </a:p>
          <a:p>
            <a:pPr marL="356870" marR="241300" indent="-344805">
              <a:spcBef>
                <a:spcPts val="484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Arial"/>
                <a:cs typeface="Arial"/>
              </a:rPr>
              <a:t>Comprobar </a:t>
            </a:r>
            <a:r>
              <a:rPr sz="2000" spc="-10" dirty="0">
                <a:latin typeface="Arial"/>
                <a:cs typeface="Arial"/>
              </a:rPr>
              <a:t>la seguridad </a:t>
            </a:r>
            <a:r>
              <a:rPr sz="2000" spc="-5" dirty="0">
                <a:latin typeface="Arial"/>
                <a:cs typeface="Arial"/>
              </a:rPr>
              <a:t>de  un producto, 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informática  </a:t>
            </a:r>
            <a:r>
              <a:rPr sz="2000" spc="-10" dirty="0">
                <a:latin typeface="Arial"/>
                <a:cs typeface="Arial"/>
              </a:rPr>
              <a:t>por </a:t>
            </a:r>
            <a:r>
              <a:rPr sz="2000" spc="-5" dirty="0">
                <a:latin typeface="Arial"/>
                <a:cs typeface="Arial"/>
              </a:rPr>
              <a:t>ejemplo, </a:t>
            </a:r>
            <a:r>
              <a:rPr sz="2000" spc="-10" dirty="0">
                <a:latin typeface="Arial"/>
                <a:cs typeface="Arial"/>
              </a:rPr>
              <a:t>para </a:t>
            </a:r>
            <a:r>
              <a:rPr sz="2000" spc="-5" dirty="0">
                <a:latin typeface="Arial"/>
                <a:cs typeface="Arial"/>
              </a:rPr>
              <a:t>conocer  </a:t>
            </a:r>
            <a:r>
              <a:rPr sz="2000" spc="-10" dirty="0">
                <a:latin typeface="Arial"/>
                <a:cs typeface="Arial"/>
              </a:rPr>
              <a:t>las </a:t>
            </a:r>
            <a:r>
              <a:rPr sz="2000" spc="-5" dirty="0">
                <a:latin typeface="Arial"/>
                <a:cs typeface="Arial"/>
              </a:rPr>
              <a:t>brechas de </a:t>
            </a:r>
            <a:r>
              <a:rPr sz="2000" spc="-10" dirty="0">
                <a:latin typeface="Arial"/>
                <a:cs typeface="Arial"/>
              </a:rPr>
              <a:t>seguridad  que puede tener </a:t>
            </a:r>
            <a:r>
              <a:rPr sz="2000" spc="-5" dirty="0">
                <a:latin typeface="Arial"/>
                <a:cs typeface="Arial"/>
              </a:rPr>
              <a:t>un  programa.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3935" y="1786127"/>
            <a:ext cx="5047488" cy="3285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7865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5085" y="76667"/>
            <a:ext cx="7179290" cy="124521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pc="-5" dirty="0">
                <a:solidFill>
                  <a:schemeClr val="tx1"/>
                </a:solidFill>
              </a:rPr>
              <a:t>¿MÉTODO DE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APRENDIZAJE?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5026" y="1716721"/>
            <a:ext cx="3823970" cy="4293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 algn="just">
              <a:spcBef>
                <a:spcPts val="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5" dirty="0">
                <a:latin typeface="Arial"/>
                <a:cs typeface="Arial"/>
              </a:rPr>
              <a:t>La </a:t>
            </a:r>
            <a:r>
              <a:rPr sz="2000" spc="-10" dirty="0">
                <a:latin typeface="Arial"/>
                <a:cs typeface="Arial"/>
              </a:rPr>
              <a:t>ingeniería inversa </a:t>
            </a:r>
            <a:r>
              <a:rPr sz="2000" spc="-5" dirty="0">
                <a:latin typeface="Arial"/>
                <a:cs typeface="Arial"/>
              </a:rPr>
              <a:t>no es un  método de </a:t>
            </a:r>
            <a:r>
              <a:rPr sz="2000" spc="-10" dirty="0">
                <a:latin typeface="Arial"/>
                <a:cs typeface="Arial"/>
              </a:rPr>
              <a:t>solución </a:t>
            </a:r>
            <a:r>
              <a:rPr sz="2000" spc="-5" dirty="0">
                <a:latin typeface="Arial"/>
                <a:cs typeface="Arial"/>
              </a:rPr>
              <a:t>sino </a:t>
            </a:r>
            <a:r>
              <a:rPr sz="2000" spc="5" dirty="0">
                <a:latin typeface="Arial"/>
                <a:cs typeface="Arial"/>
              </a:rPr>
              <a:t>más  </a:t>
            </a:r>
            <a:r>
              <a:rPr sz="2000" spc="-10" dirty="0">
                <a:latin typeface="Arial"/>
                <a:cs typeface="Arial"/>
              </a:rPr>
              <a:t>bien </a:t>
            </a:r>
            <a:r>
              <a:rPr sz="2000" spc="-5" dirty="0">
                <a:latin typeface="Arial"/>
                <a:cs typeface="Arial"/>
              </a:rPr>
              <a:t>de </a:t>
            </a:r>
            <a:r>
              <a:rPr sz="2000" spc="-10" dirty="0">
                <a:latin typeface="Arial"/>
                <a:cs typeface="Arial"/>
              </a:rPr>
              <a:t>aprendizaje, </a:t>
            </a:r>
            <a:r>
              <a:rPr sz="2000" spc="5" dirty="0">
                <a:latin typeface="Arial"/>
                <a:cs typeface="Arial"/>
              </a:rPr>
              <a:t>como  </a:t>
            </a:r>
            <a:r>
              <a:rPr sz="2000" spc="-5" dirty="0">
                <a:latin typeface="Arial"/>
                <a:cs typeface="Arial"/>
              </a:rPr>
              <a:t>implica </a:t>
            </a:r>
            <a:r>
              <a:rPr sz="2000" spc="-15" dirty="0">
                <a:latin typeface="Arial"/>
                <a:cs typeface="Arial"/>
              </a:rPr>
              <a:t>analizar </a:t>
            </a:r>
            <a:r>
              <a:rPr sz="2000" spc="-5" dirty="0">
                <a:latin typeface="Arial"/>
                <a:cs typeface="Arial"/>
              </a:rPr>
              <a:t>un objeto  hasta el </a:t>
            </a:r>
            <a:r>
              <a:rPr sz="2000" spc="-10" dirty="0">
                <a:latin typeface="Arial"/>
                <a:cs typeface="Arial"/>
              </a:rPr>
              <a:t>punto </a:t>
            </a:r>
            <a:r>
              <a:rPr sz="2000" spc="-5" dirty="0">
                <a:latin typeface="Arial"/>
                <a:cs typeface="Arial"/>
              </a:rPr>
              <a:t>de comprender  cada </a:t>
            </a:r>
            <a:r>
              <a:rPr sz="2000" spc="-10" dirty="0">
                <a:latin typeface="Arial"/>
                <a:cs typeface="Arial"/>
              </a:rPr>
              <a:t>uno </a:t>
            </a:r>
            <a:r>
              <a:rPr sz="2000" spc="-5" dirty="0">
                <a:latin typeface="Arial"/>
                <a:cs typeface="Arial"/>
              </a:rPr>
              <a:t>de sus componentes  y sus funciones </a:t>
            </a:r>
            <a:r>
              <a:rPr sz="2000" spc="-10" dirty="0">
                <a:latin typeface="Arial"/>
                <a:cs typeface="Arial"/>
              </a:rPr>
              <a:t>entonces la  cantidad </a:t>
            </a:r>
            <a:r>
              <a:rPr sz="2000" spc="-5" dirty="0">
                <a:latin typeface="Arial"/>
                <a:cs typeface="Arial"/>
              </a:rPr>
              <a:t>de conocimientos  </a:t>
            </a:r>
            <a:r>
              <a:rPr sz="2000" spc="-10" dirty="0">
                <a:latin typeface="Arial"/>
                <a:cs typeface="Arial"/>
              </a:rPr>
              <a:t>obtenida </a:t>
            </a:r>
            <a:r>
              <a:rPr sz="2000" spc="-5" dirty="0">
                <a:latin typeface="Arial"/>
                <a:cs typeface="Arial"/>
              </a:rPr>
              <a:t>será bastante, </a:t>
            </a:r>
            <a:r>
              <a:rPr sz="2000" spc="-10" dirty="0">
                <a:latin typeface="Arial"/>
                <a:cs typeface="Arial"/>
              </a:rPr>
              <a:t>pero  solo </a:t>
            </a:r>
            <a:r>
              <a:rPr sz="2000" dirty="0">
                <a:latin typeface="Arial"/>
                <a:cs typeface="Arial"/>
              </a:rPr>
              <a:t>hemos </a:t>
            </a:r>
            <a:r>
              <a:rPr sz="2000" spc="-10" dirty="0">
                <a:latin typeface="Arial"/>
                <a:cs typeface="Arial"/>
              </a:rPr>
              <a:t>aprendido, para  solucionar </a:t>
            </a:r>
            <a:r>
              <a:rPr sz="2000" spc="-5" dirty="0">
                <a:latin typeface="Arial"/>
                <a:cs typeface="Arial"/>
              </a:rPr>
              <a:t>el problema  deberemos </a:t>
            </a:r>
            <a:r>
              <a:rPr sz="2000" spc="-10" dirty="0">
                <a:latin typeface="Arial"/>
                <a:cs typeface="Arial"/>
              </a:rPr>
              <a:t>aplicar lo  aprendido </a:t>
            </a:r>
            <a:r>
              <a:rPr sz="2000" spc="-5" dirty="0">
                <a:latin typeface="Arial"/>
                <a:cs typeface="Arial"/>
              </a:rPr>
              <a:t>y comenzar de cero  nuevamente</a:t>
            </a:r>
            <a:r>
              <a:rPr sz="2000" spc="-5" dirty="0"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77719" y="2212984"/>
            <a:ext cx="4692509" cy="3505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336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245" y="278078"/>
            <a:ext cx="7370359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5" dirty="0">
                <a:solidFill>
                  <a:schemeClr val="tx1"/>
                </a:solidFill>
              </a:rPr>
              <a:t>DEBATE </a:t>
            </a:r>
            <a:r>
              <a:rPr spc="-15" dirty="0">
                <a:solidFill>
                  <a:schemeClr val="tx1"/>
                </a:solidFill>
              </a:rPr>
              <a:t>APPLE </a:t>
            </a:r>
            <a:r>
              <a:rPr dirty="0">
                <a:solidFill>
                  <a:schemeClr val="tx1"/>
                </a:solidFill>
              </a:rPr>
              <a:t>-</a:t>
            </a:r>
            <a:r>
              <a:rPr spc="6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SAMSUNG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1628013"/>
            <a:ext cx="8067675" cy="4293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62230" indent="-344805" algn="just">
              <a:spcBef>
                <a:spcPts val="90"/>
              </a:spcBef>
              <a:buClr>
                <a:srgbClr val="EEA82E"/>
              </a:buClr>
              <a:buChar char="•"/>
              <a:tabLst>
                <a:tab pos="356870" algn="l"/>
                <a:tab pos="357505" algn="l"/>
              </a:tabLst>
            </a:pPr>
            <a:r>
              <a:rPr sz="2000" spc="-10" dirty="0">
                <a:latin typeface="Arial"/>
                <a:cs typeface="Arial"/>
              </a:rPr>
              <a:t>Las </a:t>
            </a:r>
            <a:r>
              <a:rPr sz="2000" dirty="0">
                <a:latin typeface="Arial"/>
                <a:cs typeface="Arial"/>
              </a:rPr>
              <a:t>empresas </a:t>
            </a:r>
            <a:r>
              <a:rPr sz="2000" spc="-15" dirty="0">
                <a:latin typeface="Arial"/>
                <a:cs typeface="Arial"/>
              </a:rPr>
              <a:t>Apple </a:t>
            </a:r>
            <a:r>
              <a:rPr sz="2000" spc="-5" dirty="0">
                <a:latin typeface="Arial"/>
                <a:cs typeface="Arial"/>
              </a:rPr>
              <a:t>y Samsung </a:t>
            </a:r>
            <a:r>
              <a:rPr sz="2000" spc="-10" dirty="0">
                <a:latin typeface="Arial"/>
                <a:cs typeface="Arial"/>
              </a:rPr>
              <a:t>han tenido </a:t>
            </a:r>
            <a:r>
              <a:rPr sz="2000" spc="-5" dirty="0">
                <a:latin typeface="Arial"/>
                <a:cs typeface="Arial"/>
              </a:rPr>
              <a:t>un </a:t>
            </a:r>
            <a:r>
              <a:rPr sz="2000" spc="-10" dirty="0">
                <a:latin typeface="Arial"/>
                <a:cs typeface="Arial"/>
              </a:rPr>
              <a:t>debate durante los  </a:t>
            </a:r>
            <a:r>
              <a:rPr sz="2000" spc="-5" dirty="0">
                <a:latin typeface="Arial"/>
                <a:cs typeface="Arial"/>
              </a:rPr>
              <a:t>últimos </a:t>
            </a:r>
            <a:r>
              <a:rPr sz="2000" spc="-10" dirty="0">
                <a:latin typeface="Arial"/>
                <a:cs typeface="Arial"/>
              </a:rPr>
              <a:t>años </a:t>
            </a:r>
            <a:r>
              <a:rPr sz="2000" spc="-5" dirty="0">
                <a:latin typeface="Arial"/>
                <a:cs typeface="Arial"/>
              </a:rPr>
              <a:t>en </a:t>
            </a:r>
            <a:r>
              <a:rPr sz="2000" spc="-10" dirty="0">
                <a:latin typeface="Arial"/>
                <a:cs typeface="Arial"/>
              </a:rPr>
              <a:t>el que Apple </a:t>
            </a:r>
            <a:r>
              <a:rPr sz="2000" spc="-5" dirty="0">
                <a:latin typeface="Arial"/>
                <a:cs typeface="Arial"/>
              </a:rPr>
              <a:t>ha acusado a Samsung de </a:t>
            </a:r>
            <a:r>
              <a:rPr sz="2000" spc="-10" dirty="0">
                <a:latin typeface="Arial"/>
                <a:cs typeface="Arial"/>
              </a:rPr>
              <a:t>copiar </a:t>
            </a:r>
            <a:r>
              <a:rPr sz="2000" b="1" spc="-5" dirty="0">
                <a:latin typeface="Arial"/>
                <a:cs typeface="Arial"/>
              </a:rPr>
              <a:t>con  ingeniería inversa </a:t>
            </a:r>
            <a:r>
              <a:rPr sz="2000" spc="-10" dirty="0">
                <a:latin typeface="Arial"/>
                <a:cs typeface="Arial"/>
              </a:rPr>
              <a:t>tanto </a:t>
            </a:r>
            <a:r>
              <a:rPr sz="2000" spc="-5" dirty="0">
                <a:latin typeface="Arial"/>
                <a:cs typeface="Arial"/>
              </a:rPr>
              <a:t>el </a:t>
            </a:r>
            <a:r>
              <a:rPr sz="2000" spc="-10" dirty="0">
                <a:latin typeface="Arial"/>
                <a:cs typeface="Arial"/>
              </a:rPr>
              <a:t>iPhone </a:t>
            </a:r>
            <a:r>
              <a:rPr sz="2000" spc="5" dirty="0">
                <a:latin typeface="Arial"/>
                <a:cs typeface="Arial"/>
              </a:rPr>
              <a:t>como </a:t>
            </a:r>
            <a:r>
              <a:rPr sz="2000" spc="-5" dirty="0">
                <a:latin typeface="Arial"/>
                <a:cs typeface="Arial"/>
              </a:rPr>
              <a:t>el </a:t>
            </a:r>
            <a:r>
              <a:rPr sz="2000" spc="-10" dirty="0">
                <a:latin typeface="Arial"/>
                <a:cs typeface="Arial"/>
              </a:rPr>
              <a:t>iPad. </a:t>
            </a:r>
            <a:r>
              <a:rPr sz="2000" spc="-15" dirty="0">
                <a:latin typeface="Arial"/>
                <a:cs typeface="Arial"/>
              </a:rPr>
              <a:t>Apple </a:t>
            </a:r>
            <a:r>
              <a:rPr sz="2000" spc="-10" dirty="0">
                <a:latin typeface="Arial"/>
                <a:cs typeface="Arial"/>
              </a:rPr>
              <a:t>denunció </a:t>
            </a:r>
            <a:r>
              <a:rPr sz="2000" spc="-5" dirty="0">
                <a:latin typeface="Arial"/>
                <a:cs typeface="Arial"/>
              </a:rPr>
              <a:t>a  su </a:t>
            </a:r>
            <a:r>
              <a:rPr sz="2000" spc="-10" dirty="0">
                <a:latin typeface="Arial"/>
                <a:cs typeface="Arial"/>
              </a:rPr>
              <a:t>rival </a:t>
            </a:r>
            <a:r>
              <a:rPr sz="2000" spc="-5" dirty="0">
                <a:latin typeface="Arial"/>
                <a:cs typeface="Arial"/>
              </a:rPr>
              <a:t>surcoreano Samsung Electronics </a:t>
            </a:r>
            <a:r>
              <a:rPr sz="2000" spc="-10" dirty="0">
                <a:latin typeface="Arial"/>
                <a:cs typeface="Arial"/>
              </a:rPr>
              <a:t>por copiar </a:t>
            </a:r>
            <a:r>
              <a:rPr sz="2000" spc="-5" dirty="0">
                <a:latin typeface="Arial"/>
                <a:cs typeface="Arial"/>
              </a:rPr>
              <a:t>el aspecto, </a:t>
            </a:r>
            <a:r>
              <a:rPr sz="2000" spc="-10" dirty="0">
                <a:latin typeface="Arial"/>
                <a:cs typeface="Arial"/>
              </a:rPr>
              <a:t>el  diseño </a:t>
            </a:r>
            <a:r>
              <a:rPr sz="2000" spc="-5" dirty="0">
                <a:latin typeface="Arial"/>
                <a:cs typeface="Arial"/>
              </a:rPr>
              <a:t>de producto y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5" dirty="0">
                <a:latin typeface="Arial"/>
                <a:cs typeface="Arial"/>
              </a:rPr>
              <a:t>interfaz de sus </a:t>
            </a:r>
            <a:r>
              <a:rPr sz="2000" spc="-10" dirty="0">
                <a:latin typeface="Arial"/>
                <a:cs typeface="Arial"/>
              </a:rPr>
              <a:t>dispositivos iPhone </a:t>
            </a:r>
            <a:r>
              <a:rPr sz="2000" spc="-5" dirty="0">
                <a:latin typeface="Arial"/>
                <a:cs typeface="Arial"/>
              </a:rPr>
              <a:t>y </a:t>
            </a:r>
            <a:r>
              <a:rPr sz="2000" spc="-10" dirty="0">
                <a:latin typeface="Arial"/>
                <a:cs typeface="Arial"/>
              </a:rPr>
              <a:t>iPad,  lo que supone </a:t>
            </a:r>
            <a:r>
              <a:rPr sz="2000" spc="-5" dirty="0">
                <a:latin typeface="Arial"/>
                <a:cs typeface="Arial"/>
              </a:rPr>
              <a:t>según </a:t>
            </a:r>
            <a:r>
              <a:rPr sz="2000" spc="-10" dirty="0">
                <a:latin typeface="Arial"/>
                <a:cs typeface="Arial"/>
              </a:rPr>
              <a:t>la </a:t>
            </a:r>
            <a:r>
              <a:rPr sz="2000" spc="-5" dirty="0">
                <a:latin typeface="Arial"/>
                <a:cs typeface="Arial"/>
              </a:rPr>
              <a:t>compañía </a:t>
            </a:r>
            <a:r>
              <a:rPr sz="2000" spc="-10" dirty="0">
                <a:latin typeface="Arial"/>
                <a:cs typeface="Arial"/>
              </a:rPr>
              <a:t>una </a:t>
            </a:r>
            <a:r>
              <a:rPr sz="2000" spc="-5" dirty="0">
                <a:latin typeface="Arial"/>
                <a:cs typeface="Arial"/>
              </a:rPr>
              <a:t>infracción de </a:t>
            </a:r>
            <a:r>
              <a:rPr sz="2000" spc="-10" dirty="0">
                <a:latin typeface="Arial"/>
                <a:cs typeface="Arial"/>
              </a:rPr>
              <a:t>las patentes </a:t>
            </a:r>
            <a:r>
              <a:rPr sz="2000" spc="-5" dirty="0">
                <a:latin typeface="Arial"/>
                <a:cs typeface="Arial"/>
              </a:rPr>
              <a:t>y  </a:t>
            </a:r>
            <a:r>
              <a:rPr sz="2000" dirty="0">
                <a:latin typeface="Arial"/>
                <a:cs typeface="Arial"/>
              </a:rPr>
              <a:t>marcas </a:t>
            </a:r>
            <a:r>
              <a:rPr sz="2000" spc="-10" dirty="0">
                <a:latin typeface="Arial"/>
                <a:cs typeface="Arial"/>
              </a:rPr>
              <a:t>registradas por Apple. </a:t>
            </a:r>
            <a:r>
              <a:rPr sz="2000" spc="-5" dirty="0">
                <a:latin typeface="Arial"/>
                <a:cs typeface="Arial"/>
              </a:rPr>
              <a:t>La acusación </a:t>
            </a:r>
            <a:r>
              <a:rPr sz="2000" dirty="0">
                <a:latin typeface="Arial"/>
                <a:cs typeface="Arial"/>
              </a:rPr>
              <a:t>se </a:t>
            </a:r>
            <a:r>
              <a:rPr sz="2000" spc="-10" dirty="0">
                <a:latin typeface="Arial"/>
                <a:cs typeface="Arial"/>
              </a:rPr>
              <a:t>presentó </a:t>
            </a:r>
            <a:r>
              <a:rPr sz="2000" spc="-5" dirty="0">
                <a:latin typeface="Arial"/>
                <a:cs typeface="Arial"/>
              </a:rPr>
              <a:t>el 15 de  </a:t>
            </a:r>
            <a:r>
              <a:rPr sz="2000" spc="-10" dirty="0">
                <a:latin typeface="Arial"/>
                <a:cs typeface="Arial"/>
              </a:rPr>
              <a:t>abril del 2013 </a:t>
            </a:r>
            <a:r>
              <a:rPr sz="2000" spc="-5" dirty="0">
                <a:latin typeface="Arial"/>
                <a:cs typeface="Arial"/>
              </a:rPr>
              <a:t>en </a:t>
            </a:r>
            <a:r>
              <a:rPr sz="2000" spc="-10" dirty="0">
                <a:latin typeface="Arial"/>
                <a:cs typeface="Arial"/>
              </a:rPr>
              <a:t>los tribunales del </a:t>
            </a:r>
            <a:r>
              <a:rPr sz="2000" spc="-5" dirty="0">
                <a:latin typeface="Arial"/>
                <a:cs typeface="Arial"/>
              </a:rPr>
              <a:t>distrito norte</a:t>
            </a:r>
            <a:r>
              <a:rPr sz="2000" spc="-5" dirty="0">
                <a:latin typeface="Arial"/>
                <a:cs typeface="Arial"/>
              </a:rPr>
              <a:t> de </a:t>
            </a:r>
            <a:r>
              <a:rPr sz="2000" spc="-10" dirty="0">
                <a:latin typeface="Arial"/>
                <a:cs typeface="Arial"/>
              </a:rPr>
              <a:t>California ante</a:t>
            </a:r>
            <a:r>
              <a:rPr sz="2000" spc="3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lo</a:t>
            </a:r>
            <a:endParaRPr sz="2000" dirty="0">
              <a:latin typeface="Arial"/>
              <a:cs typeface="Arial"/>
            </a:endParaRPr>
          </a:p>
          <a:p>
            <a:pPr marL="356870" marR="5080" algn="just">
              <a:spcBef>
                <a:spcPts val="10"/>
              </a:spcBef>
            </a:pPr>
            <a:r>
              <a:rPr sz="2000" spc="-10" dirty="0">
                <a:latin typeface="Arial"/>
                <a:cs typeface="Arial"/>
              </a:rPr>
              <a:t>que </a:t>
            </a:r>
            <a:r>
              <a:rPr sz="2000" spc="-15" dirty="0">
                <a:latin typeface="Arial"/>
                <a:cs typeface="Arial"/>
              </a:rPr>
              <a:t>Apple </a:t>
            </a:r>
            <a:r>
              <a:rPr sz="2000" spc="-5" dirty="0">
                <a:latin typeface="Arial"/>
                <a:cs typeface="Arial"/>
              </a:rPr>
              <a:t>considera </a:t>
            </a:r>
            <a:r>
              <a:rPr sz="2000" spc="-10" dirty="0">
                <a:latin typeface="Arial"/>
                <a:cs typeface="Arial"/>
              </a:rPr>
              <a:t>una violación </a:t>
            </a:r>
            <a:r>
              <a:rPr sz="2000" spc="-5" dirty="0">
                <a:latin typeface="Arial"/>
                <a:cs typeface="Arial"/>
              </a:rPr>
              <a:t>de </a:t>
            </a:r>
            <a:r>
              <a:rPr sz="2000" dirty="0">
                <a:latin typeface="Arial"/>
                <a:cs typeface="Arial"/>
              </a:rPr>
              <a:t>su </a:t>
            </a:r>
            <a:r>
              <a:rPr sz="2000" spc="-10" dirty="0">
                <a:latin typeface="Arial"/>
                <a:cs typeface="Arial"/>
              </a:rPr>
              <a:t>propiedad intelectual. "Esta  </a:t>
            </a:r>
            <a:r>
              <a:rPr sz="2000" spc="-5" dirty="0">
                <a:latin typeface="Arial"/>
                <a:cs typeface="Arial"/>
              </a:rPr>
              <a:t>clase de </a:t>
            </a:r>
            <a:r>
              <a:rPr sz="2000" spc="-10" dirty="0">
                <a:latin typeface="Arial"/>
                <a:cs typeface="Arial"/>
              </a:rPr>
              <a:t>copia </a:t>
            </a:r>
            <a:r>
              <a:rPr sz="2000" spc="-5" dirty="0">
                <a:latin typeface="Arial"/>
                <a:cs typeface="Arial"/>
              </a:rPr>
              <a:t>descarada está mal", </a:t>
            </a:r>
            <a:r>
              <a:rPr sz="2000" spc="-10" dirty="0">
                <a:latin typeface="Arial"/>
                <a:cs typeface="Arial"/>
              </a:rPr>
              <a:t>indicó </a:t>
            </a:r>
            <a:r>
              <a:rPr sz="2000" spc="-5" dirty="0">
                <a:latin typeface="Arial"/>
                <a:cs typeface="Arial"/>
              </a:rPr>
              <a:t>en un comunicado </a:t>
            </a:r>
            <a:r>
              <a:rPr sz="2000" spc="-10" dirty="0">
                <a:latin typeface="Arial"/>
                <a:cs typeface="Arial"/>
              </a:rPr>
              <a:t>la  portavoz Kristin Huguet. Apple </a:t>
            </a:r>
            <a:r>
              <a:rPr sz="2000" spc="-5" dirty="0">
                <a:latin typeface="Arial"/>
                <a:cs typeface="Arial"/>
              </a:rPr>
              <a:t>considera </a:t>
            </a:r>
            <a:r>
              <a:rPr sz="2000" spc="-10" dirty="0">
                <a:latin typeface="Arial"/>
                <a:cs typeface="Arial"/>
              </a:rPr>
              <a:t>que </a:t>
            </a:r>
            <a:r>
              <a:rPr sz="2000" spc="-5" dirty="0">
                <a:latin typeface="Arial"/>
                <a:cs typeface="Arial"/>
              </a:rPr>
              <a:t>Samsung empleó </a:t>
            </a:r>
            <a:r>
              <a:rPr sz="2000" spc="-10" dirty="0">
                <a:latin typeface="Arial"/>
                <a:cs typeface="Arial"/>
              </a:rPr>
              <a:t>los  avances presentados por </a:t>
            </a:r>
            <a:r>
              <a:rPr sz="2000" spc="-15" dirty="0">
                <a:latin typeface="Arial"/>
                <a:cs typeface="Arial"/>
              </a:rPr>
              <a:t>Apple </a:t>
            </a:r>
            <a:r>
              <a:rPr sz="2000" spc="-5" dirty="0">
                <a:latin typeface="Arial"/>
                <a:cs typeface="Arial"/>
              </a:rPr>
              <a:t>en sus </a:t>
            </a:r>
            <a:r>
              <a:rPr sz="2000" spc="-10" dirty="0">
                <a:latin typeface="Arial"/>
                <a:cs typeface="Arial"/>
              </a:rPr>
              <a:t>teléfonos inteligentes  </a:t>
            </a:r>
            <a:r>
              <a:rPr sz="2000" spc="-5" dirty="0">
                <a:latin typeface="Arial"/>
                <a:cs typeface="Arial"/>
              </a:rPr>
              <a:t>'Galaxy S 4G', </a:t>
            </a:r>
            <a:r>
              <a:rPr sz="2000" spc="-10" dirty="0">
                <a:latin typeface="Arial"/>
                <a:cs typeface="Arial"/>
              </a:rPr>
              <a:t>'Epic </a:t>
            </a:r>
            <a:r>
              <a:rPr sz="2000" spc="-5" dirty="0">
                <a:latin typeface="Arial"/>
                <a:cs typeface="Arial"/>
              </a:rPr>
              <a:t>4G' y 'Nexus </a:t>
            </a:r>
            <a:r>
              <a:rPr sz="2000" spc="-10" dirty="0">
                <a:latin typeface="Arial"/>
                <a:cs typeface="Arial"/>
              </a:rPr>
              <a:t>S', </a:t>
            </a:r>
            <a:r>
              <a:rPr sz="2000" spc="-5" dirty="0">
                <a:latin typeface="Arial"/>
                <a:cs typeface="Arial"/>
              </a:rPr>
              <a:t>así </a:t>
            </a:r>
            <a:r>
              <a:rPr sz="2000" spc="5" dirty="0">
                <a:latin typeface="Arial"/>
                <a:cs typeface="Arial"/>
              </a:rPr>
              <a:t>como </a:t>
            </a:r>
            <a:r>
              <a:rPr sz="2000" spc="-5" dirty="0">
                <a:latin typeface="Arial"/>
                <a:cs typeface="Arial"/>
              </a:rPr>
              <a:t>en su </a:t>
            </a:r>
            <a:r>
              <a:rPr sz="2000" spc="-10" dirty="0">
                <a:latin typeface="Arial"/>
                <a:cs typeface="Arial"/>
              </a:rPr>
              <a:t>tableta </a:t>
            </a:r>
            <a:r>
              <a:rPr sz="2000" spc="-5" dirty="0">
                <a:latin typeface="Arial"/>
                <a:cs typeface="Arial"/>
              </a:rPr>
              <a:t>'Galaxy  </a:t>
            </a:r>
            <a:r>
              <a:rPr sz="2000" spc="-45" dirty="0">
                <a:latin typeface="Arial"/>
                <a:cs typeface="Arial"/>
              </a:rPr>
              <a:t>Tab', </a:t>
            </a:r>
            <a:r>
              <a:rPr sz="2000" spc="-10" dirty="0">
                <a:latin typeface="Arial"/>
                <a:cs typeface="Arial"/>
              </a:rPr>
              <a:t>una de las mayores </a:t>
            </a:r>
            <a:r>
              <a:rPr sz="2000" spc="-5" dirty="0">
                <a:latin typeface="Arial"/>
                <a:cs typeface="Arial"/>
              </a:rPr>
              <a:t>competidoras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del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iPad.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2311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4896" y="430477"/>
            <a:ext cx="5200364" cy="4885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solidFill>
                  <a:schemeClr val="tx1"/>
                </a:solidFill>
              </a:rPr>
              <a:t>BIBLIOGRAFÍA</a:t>
            </a:r>
            <a:r>
              <a:rPr spc="-9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BÁSICA</a:t>
            </a:r>
          </a:p>
        </p:txBody>
      </p:sp>
      <p:sp>
        <p:nvSpPr>
          <p:cNvPr id="3" name="object 3"/>
          <p:cNvSpPr/>
          <p:nvPr/>
        </p:nvSpPr>
        <p:spPr>
          <a:xfrm>
            <a:off x="641445" y="1821767"/>
            <a:ext cx="10836322" cy="18085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5188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tángulo redondeado 3"/>
          <p:cNvSpPr/>
          <p:nvPr/>
        </p:nvSpPr>
        <p:spPr>
          <a:xfrm>
            <a:off x="3289111" y="2497540"/>
            <a:ext cx="4981433" cy="242930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 smtClean="0"/>
              <a:t>PREGUNTAS DE COMPROBACIÓN DE LOGRO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48600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lecha&#10;&#10;Descripción generada automáticamente">
            <a:extLst>
              <a:ext uri="{FF2B5EF4-FFF2-40B4-BE49-F238E27FC236}">
                <a16:creationId xmlns:a16="http://schemas.microsoft.com/office/drawing/2014/main" id="{04BF8D6B-8EA2-4AC4-8326-2A263E72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804849-8A90-4015-970D-D19E955BE140}"/>
              </a:ext>
            </a:extLst>
          </p:cNvPr>
          <p:cNvSpPr txBox="1"/>
          <p:nvPr/>
        </p:nvSpPr>
        <p:spPr>
          <a:xfrm>
            <a:off x="5505965" y="2204326"/>
            <a:ext cx="6686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800" dirty="0">
                <a:solidFill>
                  <a:srgbClr val="FFC000"/>
                </a:solidFill>
                <a:latin typeface="Sharp Grotesk Bold 15" panose="00000806000000000000" pitchFamily="50" charset="0"/>
              </a:rPr>
              <a:t>GRACIAS</a:t>
            </a:r>
            <a:endParaRPr lang="es-PE" sz="10800" dirty="0">
              <a:solidFill>
                <a:srgbClr val="FFC000"/>
              </a:solidFill>
              <a:latin typeface="Sharp Grotesk Bold 15" panose="000008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64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474</Words>
  <Application>Microsoft Office PowerPoint</Application>
  <PresentationFormat>Panorámica</PresentationFormat>
  <Paragraphs>36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16</vt:i4>
      </vt:variant>
    </vt:vector>
  </HeadingPairs>
  <TitlesOfParts>
    <vt:vector size="29" baseType="lpstr">
      <vt:lpstr>Arial</vt:lpstr>
      <vt:lpstr>Calibri</vt:lpstr>
      <vt:lpstr>Carlito</vt:lpstr>
      <vt:lpstr>Sharp Grotesk Bold 15</vt:lpstr>
      <vt:lpstr>Sharp Grotesk Book 15</vt:lpstr>
      <vt:lpstr>Tahoma</vt:lpstr>
      <vt:lpstr>Telegraf</vt:lpstr>
      <vt:lpstr>Tema de Office</vt:lpstr>
      <vt:lpstr>Diseño personalizado</vt:lpstr>
      <vt:lpstr>1_Diseño personalizado</vt:lpstr>
      <vt:lpstr>2_Diseño personalizado</vt:lpstr>
      <vt:lpstr>3_Diseño personalizado</vt:lpstr>
      <vt:lpstr>4_Diseño personalizado</vt:lpstr>
      <vt:lpstr>Presentación de PowerPoint</vt:lpstr>
      <vt:lpstr>Presentación de PowerPoint</vt:lpstr>
      <vt:lpstr>Presentación de PowerPoint</vt:lpstr>
      <vt:lpstr>REFLEXIONA:</vt:lpstr>
      <vt:lpstr>LOGRO DE LA SESIÓN</vt:lpstr>
      <vt:lpstr>¿EN QUE DISCIPLINA NOS ENCONTRAMOS?</vt:lpstr>
      <vt:lpstr>INGENIERÍA INVERSA</vt:lpstr>
      <vt:lpstr>INGENIERÍA INVERSA</vt:lpstr>
      <vt:lpstr>USOS</vt:lpstr>
      <vt:lpstr>USOS</vt:lpstr>
      <vt:lpstr>¿MÉTODO DE APRENDIZAJE?</vt:lpstr>
      <vt:lpstr>DEBATE APPLE - SAMSUNG</vt:lpstr>
      <vt:lpstr>BIBLIOGRAFÍA BÁSICA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C. La Madrid Cruz</dc:creator>
  <cp:lastModifiedBy>HP</cp:lastModifiedBy>
  <cp:revision>25</cp:revision>
  <dcterms:created xsi:type="dcterms:W3CDTF">2021-09-09T21:43:32Z</dcterms:created>
  <dcterms:modified xsi:type="dcterms:W3CDTF">2022-02-23T12:22:44Z</dcterms:modified>
</cp:coreProperties>
</file>